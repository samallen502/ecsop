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5"/>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7" r:id="rId16"/>
    <p:sldId id="266" r:id="rId17"/>
    <p:sldId id="268" r:id="rId18"/>
    <p:sldId id="269" r:id="rId19"/>
    <p:sldId id="272" r:id="rId20"/>
    <p:sldId id="271" r:id="rId21"/>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9804A1-F220-4C92-8BF3-6C9F6F20E9CB}" v="8" dt="2024-12-11T17:21:35.8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4660"/>
  </p:normalViewPr>
  <p:slideViewPr>
    <p:cSldViewPr snapToGrid="0">
      <p:cViewPr varScale="1">
        <p:scale>
          <a:sx n="64" d="100"/>
          <a:sy n="64" d="100"/>
        </p:scale>
        <p:origin x="90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rnback, Kelley" userId="83d8b9c3-d83c-4f9f-aa29-37fcc47d1a63" providerId="ADAL" clId="{D59804A1-F220-4C92-8BF3-6C9F6F20E9CB}"/>
    <pc:docChg chg="undo custSel addSld delSld modSld sldOrd">
      <pc:chgData name="Hornback, Kelley" userId="83d8b9c3-d83c-4f9f-aa29-37fcc47d1a63" providerId="ADAL" clId="{D59804A1-F220-4C92-8BF3-6C9F6F20E9CB}" dt="2024-12-12T20:13:08.110" v="963" actId="113"/>
      <pc:docMkLst>
        <pc:docMk/>
      </pc:docMkLst>
      <pc:sldChg chg="modSp mod modNotesTx">
        <pc:chgData name="Hornback, Kelley" userId="83d8b9c3-d83c-4f9f-aa29-37fcc47d1a63" providerId="ADAL" clId="{D59804A1-F220-4C92-8BF3-6C9F6F20E9CB}" dt="2024-12-12T20:05:51.241" v="878" actId="313"/>
        <pc:sldMkLst>
          <pc:docMk/>
          <pc:sldMk cId="2075781683" sldId="257"/>
        </pc:sldMkLst>
        <pc:graphicFrameChg chg="mod">
          <ac:chgData name="Hornback, Kelley" userId="83d8b9c3-d83c-4f9f-aa29-37fcc47d1a63" providerId="ADAL" clId="{D59804A1-F220-4C92-8BF3-6C9F6F20E9CB}" dt="2024-12-11T17:21:35.838" v="10"/>
          <ac:graphicFrameMkLst>
            <pc:docMk/>
            <pc:sldMk cId="2075781683" sldId="257"/>
            <ac:graphicFrameMk id="20" creationId="{0C6A309D-E8F6-F789-FDF5-DEA3CA59C379}"/>
          </ac:graphicFrameMkLst>
        </pc:graphicFrameChg>
      </pc:sldChg>
      <pc:sldChg chg="modSp mod">
        <pc:chgData name="Hornback, Kelley" userId="83d8b9c3-d83c-4f9f-aa29-37fcc47d1a63" providerId="ADAL" clId="{D59804A1-F220-4C92-8BF3-6C9F6F20E9CB}" dt="2024-12-12T20:06:57.180" v="881" actId="20577"/>
        <pc:sldMkLst>
          <pc:docMk/>
          <pc:sldMk cId="3836340720" sldId="258"/>
        </pc:sldMkLst>
        <pc:spChg chg="mod">
          <ac:chgData name="Hornback, Kelley" userId="83d8b9c3-d83c-4f9f-aa29-37fcc47d1a63" providerId="ADAL" clId="{D59804A1-F220-4C92-8BF3-6C9F6F20E9CB}" dt="2024-12-12T20:06:57.180" v="881" actId="20577"/>
          <ac:spMkLst>
            <pc:docMk/>
            <pc:sldMk cId="3836340720" sldId="258"/>
            <ac:spMk id="4" creationId="{00000000-0000-0000-0000-000000000000}"/>
          </ac:spMkLst>
        </pc:spChg>
      </pc:sldChg>
      <pc:sldChg chg="modSp mod">
        <pc:chgData name="Hornback, Kelley" userId="83d8b9c3-d83c-4f9f-aa29-37fcc47d1a63" providerId="ADAL" clId="{D59804A1-F220-4C92-8BF3-6C9F6F20E9CB}" dt="2024-12-12T20:08:28.209" v="954" actId="20577"/>
        <pc:sldMkLst>
          <pc:docMk/>
          <pc:sldMk cId="3470514620" sldId="259"/>
        </pc:sldMkLst>
        <pc:spChg chg="mod">
          <ac:chgData name="Hornback, Kelley" userId="83d8b9c3-d83c-4f9f-aa29-37fcc47d1a63" providerId="ADAL" clId="{D59804A1-F220-4C92-8BF3-6C9F6F20E9CB}" dt="2024-12-12T19:28:34.512" v="174" actId="1076"/>
          <ac:spMkLst>
            <pc:docMk/>
            <pc:sldMk cId="3470514620" sldId="259"/>
            <ac:spMk id="2" creationId="{00000000-0000-0000-0000-000000000000}"/>
          </ac:spMkLst>
        </pc:spChg>
        <pc:spChg chg="mod">
          <ac:chgData name="Hornback, Kelley" userId="83d8b9c3-d83c-4f9f-aa29-37fcc47d1a63" providerId="ADAL" clId="{D59804A1-F220-4C92-8BF3-6C9F6F20E9CB}" dt="2024-12-12T20:08:28.209" v="954" actId="20577"/>
          <ac:spMkLst>
            <pc:docMk/>
            <pc:sldMk cId="3470514620" sldId="259"/>
            <ac:spMk id="3" creationId="{00000000-0000-0000-0000-000000000000}"/>
          </ac:spMkLst>
        </pc:spChg>
      </pc:sldChg>
      <pc:sldChg chg="modSp mod">
        <pc:chgData name="Hornback, Kelley" userId="83d8b9c3-d83c-4f9f-aa29-37fcc47d1a63" providerId="ADAL" clId="{D59804A1-F220-4C92-8BF3-6C9F6F20E9CB}" dt="2024-12-12T19:38:53.638" v="392" actId="255"/>
        <pc:sldMkLst>
          <pc:docMk/>
          <pc:sldMk cId="4105668050" sldId="260"/>
        </pc:sldMkLst>
        <pc:spChg chg="mod">
          <ac:chgData name="Hornback, Kelley" userId="83d8b9c3-d83c-4f9f-aa29-37fcc47d1a63" providerId="ADAL" clId="{D59804A1-F220-4C92-8BF3-6C9F6F20E9CB}" dt="2024-12-12T19:37:36.946" v="381" actId="14100"/>
          <ac:spMkLst>
            <pc:docMk/>
            <pc:sldMk cId="4105668050" sldId="260"/>
            <ac:spMk id="2" creationId="{00000000-0000-0000-0000-000000000000}"/>
          </ac:spMkLst>
        </pc:spChg>
        <pc:spChg chg="mod">
          <ac:chgData name="Hornback, Kelley" userId="83d8b9c3-d83c-4f9f-aa29-37fcc47d1a63" providerId="ADAL" clId="{D59804A1-F220-4C92-8BF3-6C9F6F20E9CB}" dt="2024-12-12T19:38:53.638" v="392" actId="255"/>
          <ac:spMkLst>
            <pc:docMk/>
            <pc:sldMk cId="4105668050" sldId="260"/>
            <ac:spMk id="3" creationId="{00000000-0000-0000-0000-000000000000}"/>
          </ac:spMkLst>
        </pc:spChg>
      </pc:sldChg>
      <pc:sldChg chg="modSp mod">
        <pc:chgData name="Hornback, Kelley" userId="83d8b9c3-d83c-4f9f-aa29-37fcc47d1a63" providerId="ADAL" clId="{D59804A1-F220-4C92-8BF3-6C9F6F20E9CB}" dt="2024-12-12T19:40:46.183" v="446" actId="207"/>
        <pc:sldMkLst>
          <pc:docMk/>
          <pc:sldMk cId="507277932" sldId="261"/>
        </pc:sldMkLst>
        <pc:spChg chg="mod">
          <ac:chgData name="Hornback, Kelley" userId="83d8b9c3-d83c-4f9f-aa29-37fcc47d1a63" providerId="ADAL" clId="{D59804A1-F220-4C92-8BF3-6C9F6F20E9CB}" dt="2024-12-12T19:40:16.811" v="441" actId="1076"/>
          <ac:spMkLst>
            <pc:docMk/>
            <pc:sldMk cId="507277932" sldId="261"/>
            <ac:spMk id="2" creationId="{00000000-0000-0000-0000-000000000000}"/>
          </ac:spMkLst>
        </pc:spChg>
        <pc:spChg chg="mod">
          <ac:chgData name="Hornback, Kelley" userId="83d8b9c3-d83c-4f9f-aa29-37fcc47d1a63" providerId="ADAL" clId="{D59804A1-F220-4C92-8BF3-6C9F6F20E9CB}" dt="2024-12-12T19:40:46.183" v="446" actId="207"/>
          <ac:spMkLst>
            <pc:docMk/>
            <pc:sldMk cId="507277932" sldId="261"/>
            <ac:spMk id="3" creationId="{00000000-0000-0000-0000-000000000000}"/>
          </ac:spMkLst>
        </pc:spChg>
      </pc:sldChg>
      <pc:sldChg chg="modSp mod">
        <pc:chgData name="Hornback, Kelley" userId="83d8b9c3-d83c-4f9f-aa29-37fcc47d1a63" providerId="ADAL" clId="{D59804A1-F220-4C92-8BF3-6C9F6F20E9CB}" dt="2024-12-12T20:10:53.855" v="959" actId="255"/>
        <pc:sldMkLst>
          <pc:docMk/>
          <pc:sldMk cId="4001868021" sldId="262"/>
        </pc:sldMkLst>
        <pc:spChg chg="mod">
          <ac:chgData name="Hornback, Kelley" userId="83d8b9c3-d83c-4f9f-aa29-37fcc47d1a63" providerId="ADAL" clId="{D59804A1-F220-4C92-8BF3-6C9F6F20E9CB}" dt="2024-12-12T20:10:53.855" v="959" actId="255"/>
          <ac:spMkLst>
            <pc:docMk/>
            <pc:sldMk cId="4001868021" sldId="262"/>
            <ac:spMk id="3" creationId="{00000000-0000-0000-0000-000000000000}"/>
          </ac:spMkLst>
        </pc:spChg>
      </pc:sldChg>
      <pc:sldChg chg="modSp mod">
        <pc:chgData name="Hornback, Kelley" userId="83d8b9c3-d83c-4f9f-aa29-37fcc47d1a63" providerId="ADAL" clId="{D59804A1-F220-4C92-8BF3-6C9F6F20E9CB}" dt="2024-12-12T19:53:10.426" v="575" actId="113"/>
        <pc:sldMkLst>
          <pc:docMk/>
          <pc:sldMk cId="1939057594" sldId="263"/>
        </pc:sldMkLst>
        <pc:spChg chg="mod">
          <ac:chgData name="Hornback, Kelley" userId="83d8b9c3-d83c-4f9f-aa29-37fcc47d1a63" providerId="ADAL" clId="{D59804A1-F220-4C92-8BF3-6C9F6F20E9CB}" dt="2024-12-12T19:53:10.426" v="575" actId="113"/>
          <ac:spMkLst>
            <pc:docMk/>
            <pc:sldMk cId="1939057594" sldId="263"/>
            <ac:spMk id="3" creationId="{00000000-0000-0000-0000-000000000000}"/>
          </ac:spMkLst>
        </pc:spChg>
      </pc:sldChg>
      <pc:sldChg chg="modSp mod">
        <pc:chgData name="Hornback, Kelley" userId="83d8b9c3-d83c-4f9f-aa29-37fcc47d1a63" providerId="ADAL" clId="{D59804A1-F220-4C92-8BF3-6C9F6F20E9CB}" dt="2024-12-12T20:13:08.110" v="963" actId="113"/>
        <pc:sldMkLst>
          <pc:docMk/>
          <pc:sldMk cId="727139378" sldId="264"/>
        </pc:sldMkLst>
        <pc:spChg chg="mod">
          <ac:chgData name="Hornback, Kelley" userId="83d8b9c3-d83c-4f9f-aa29-37fcc47d1a63" providerId="ADAL" clId="{D59804A1-F220-4C92-8BF3-6C9F6F20E9CB}" dt="2024-12-12T20:13:08.110" v="963" actId="113"/>
          <ac:spMkLst>
            <pc:docMk/>
            <pc:sldMk cId="727139378" sldId="264"/>
            <ac:spMk id="3" creationId="{00000000-0000-0000-0000-000000000000}"/>
          </ac:spMkLst>
        </pc:spChg>
      </pc:sldChg>
      <pc:sldChg chg="modSp mod">
        <pc:chgData name="Hornback, Kelley" userId="83d8b9c3-d83c-4f9f-aa29-37fcc47d1a63" providerId="ADAL" clId="{D59804A1-F220-4C92-8BF3-6C9F6F20E9CB}" dt="2024-12-12T19:57:37.700" v="719" actId="20577"/>
        <pc:sldMkLst>
          <pc:docMk/>
          <pc:sldMk cId="4103467850" sldId="265"/>
        </pc:sldMkLst>
        <pc:spChg chg="mod">
          <ac:chgData name="Hornback, Kelley" userId="83d8b9c3-d83c-4f9f-aa29-37fcc47d1a63" providerId="ADAL" clId="{D59804A1-F220-4C92-8BF3-6C9F6F20E9CB}" dt="2024-12-12T19:57:37.700" v="719" actId="20577"/>
          <ac:spMkLst>
            <pc:docMk/>
            <pc:sldMk cId="4103467850" sldId="265"/>
            <ac:spMk id="3" creationId="{00000000-0000-0000-0000-000000000000}"/>
          </ac:spMkLst>
        </pc:spChg>
      </pc:sldChg>
      <pc:sldChg chg="modSp mod">
        <pc:chgData name="Hornback, Kelley" userId="83d8b9c3-d83c-4f9f-aa29-37fcc47d1a63" providerId="ADAL" clId="{D59804A1-F220-4C92-8BF3-6C9F6F20E9CB}" dt="2024-12-12T20:01:50.936" v="831" actId="20577"/>
        <pc:sldMkLst>
          <pc:docMk/>
          <pc:sldMk cId="1314320355" sldId="268"/>
        </pc:sldMkLst>
        <pc:spChg chg="mod">
          <ac:chgData name="Hornback, Kelley" userId="83d8b9c3-d83c-4f9f-aa29-37fcc47d1a63" providerId="ADAL" clId="{D59804A1-F220-4C92-8BF3-6C9F6F20E9CB}" dt="2024-12-12T20:01:50.936" v="831" actId="20577"/>
          <ac:spMkLst>
            <pc:docMk/>
            <pc:sldMk cId="1314320355" sldId="268"/>
            <ac:spMk id="3" creationId="{00000000-0000-0000-0000-000000000000}"/>
          </ac:spMkLst>
        </pc:spChg>
      </pc:sldChg>
      <pc:sldChg chg="del">
        <pc:chgData name="Hornback, Kelley" userId="83d8b9c3-d83c-4f9f-aa29-37fcc47d1a63" providerId="ADAL" clId="{D59804A1-F220-4C92-8BF3-6C9F6F20E9CB}" dt="2024-12-12T20:03:51.832" v="832" actId="2696"/>
        <pc:sldMkLst>
          <pc:docMk/>
          <pc:sldMk cId="1938690219" sldId="270"/>
        </pc:sldMkLst>
      </pc:sldChg>
      <pc:sldChg chg="modSp mod">
        <pc:chgData name="Hornback, Kelley" userId="83d8b9c3-d83c-4f9f-aa29-37fcc47d1a63" providerId="ADAL" clId="{D59804A1-F220-4C92-8BF3-6C9F6F20E9CB}" dt="2024-12-12T20:04:54.390" v="877" actId="20577"/>
        <pc:sldMkLst>
          <pc:docMk/>
          <pc:sldMk cId="3564494971" sldId="272"/>
        </pc:sldMkLst>
        <pc:spChg chg="mod">
          <ac:chgData name="Hornback, Kelley" userId="83d8b9c3-d83c-4f9f-aa29-37fcc47d1a63" providerId="ADAL" clId="{D59804A1-F220-4C92-8BF3-6C9F6F20E9CB}" dt="2024-12-12T20:04:54.390" v="877" actId="20577"/>
          <ac:spMkLst>
            <pc:docMk/>
            <pc:sldMk cId="3564494971" sldId="272"/>
            <ac:spMk id="3" creationId="{00000000-0000-0000-0000-000000000000}"/>
          </ac:spMkLst>
        </pc:spChg>
      </pc:sldChg>
      <pc:sldChg chg="modSp new del mod ord">
        <pc:chgData name="Hornback, Kelley" userId="83d8b9c3-d83c-4f9f-aa29-37fcc47d1a63" providerId="ADAL" clId="{D59804A1-F220-4C92-8BF3-6C9F6F20E9CB}" dt="2024-12-12T19:48:52.041" v="512" actId="680"/>
        <pc:sldMkLst>
          <pc:docMk/>
          <pc:sldMk cId="3633424868" sldId="273"/>
        </pc:sldMkLst>
        <pc:spChg chg="mod">
          <ac:chgData name="Hornback, Kelley" userId="83d8b9c3-d83c-4f9f-aa29-37fcc47d1a63" providerId="ADAL" clId="{D59804A1-F220-4C92-8BF3-6C9F6F20E9CB}" dt="2024-12-12T19:48:48.379" v="510" actId="20577"/>
          <ac:spMkLst>
            <pc:docMk/>
            <pc:sldMk cId="3633424868" sldId="273"/>
            <ac:spMk id="2" creationId="{207F7E27-C25E-9AD4-0652-A93F8DF7B28E}"/>
          </ac:spMkLst>
        </pc:spChg>
        <pc:spChg chg="mod">
          <ac:chgData name="Hornback, Kelley" userId="83d8b9c3-d83c-4f9f-aa29-37fcc47d1a63" providerId="ADAL" clId="{D59804A1-F220-4C92-8BF3-6C9F6F20E9CB}" dt="2024-12-12T19:48:45.996" v="507" actId="1076"/>
          <ac:spMkLst>
            <pc:docMk/>
            <pc:sldMk cId="3633424868" sldId="273"/>
            <ac:spMk id="3" creationId="{48CC8D5C-AC38-EF37-30AC-DB4C62AE7EF8}"/>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FD4E18-AD62-4127-B5F6-DCAF3C4D73A9}"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65275555-DC6C-4BCF-8182-89CB8FDAFB75}">
      <dgm:prSet custT="1"/>
      <dgm:spPr/>
      <dgm:t>
        <a:bodyPr/>
        <a:lstStyle/>
        <a:p>
          <a:pPr>
            <a:lnSpc>
              <a:spcPct val="100000"/>
            </a:lnSpc>
          </a:pPr>
          <a:r>
            <a:rPr lang="en-US" sz="1800" dirty="0"/>
            <a:t>During the admissions process the enrolling student must complete the determination of State Residency Status form.  </a:t>
          </a:r>
        </a:p>
      </dgm:t>
    </dgm:pt>
    <dgm:pt modelId="{B9A66DEA-18CA-4D4D-A616-E5518B65EDC0}" type="parTrans" cxnId="{1C5C6AF0-73F8-4F47-914D-19BCC4C41A0C}">
      <dgm:prSet/>
      <dgm:spPr/>
      <dgm:t>
        <a:bodyPr/>
        <a:lstStyle/>
        <a:p>
          <a:endParaRPr lang="en-US"/>
        </a:p>
      </dgm:t>
    </dgm:pt>
    <dgm:pt modelId="{E0CF0F3C-02D8-4943-BA4A-27CA71D217FC}" type="sibTrans" cxnId="{1C5C6AF0-73F8-4F47-914D-19BCC4C41A0C}">
      <dgm:prSet/>
      <dgm:spPr/>
      <dgm:t>
        <a:bodyPr/>
        <a:lstStyle/>
        <a:p>
          <a:pPr>
            <a:lnSpc>
              <a:spcPct val="100000"/>
            </a:lnSpc>
          </a:pPr>
          <a:endParaRPr lang="en-US"/>
        </a:p>
      </dgm:t>
    </dgm:pt>
    <dgm:pt modelId="{114A5049-D20C-4981-BAF0-7DE5F8DFD17A}">
      <dgm:prSet custT="1"/>
      <dgm:spPr/>
      <dgm:t>
        <a:bodyPr/>
        <a:lstStyle/>
        <a:p>
          <a:pPr>
            <a:lnSpc>
              <a:spcPct val="100000"/>
            </a:lnSpc>
          </a:pPr>
          <a:r>
            <a:rPr lang="en-US" sz="1600" dirty="0"/>
            <a:t>Admissions staff (designated at each campus) will approve/deny residency based on the information </a:t>
          </a:r>
          <a:r>
            <a:rPr lang="en-US" sz="1600" baseline="0" dirty="0"/>
            <a:t>supplied</a:t>
          </a:r>
          <a:r>
            <a:rPr lang="en-US" sz="1600" dirty="0"/>
            <a:t> by the student on the status form and any supporting documentation the student provides</a:t>
          </a:r>
        </a:p>
      </dgm:t>
    </dgm:pt>
    <dgm:pt modelId="{B419E847-4F13-4DA8-B0BF-86B3FD086E8D}" type="parTrans" cxnId="{EBC25627-611B-4E6A-A878-0589C95453E0}">
      <dgm:prSet/>
      <dgm:spPr/>
      <dgm:t>
        <a:bodyPr/>
        <a:lstStyle/>
        <a:p>
          <a:endParaRPr lang="en-US"/>
        </a:p>
      </dgm:t>
    </dgm:pt>
    <dgm:pt modelId="{1824AB16-CC54-4451-BFA0-9EE4B263F25A}" type="sibTrans" cxnId="{EBC25627-611B-4E6A-A878-0589C95453E0}">
      <dgm:prSet/>
      <dgm:spPr/>
      <dgm:t>
        <a:bodyPr/>
        <a:lstStyle/>
        <a:p>
          <a:pPr>
            <a:lnSpc>
              <a:spcPct val="100000"/>
            </a:lnSpc>
          </a:pPr>
          <a:endParaRPr lang="en-US"/>
        </a:p>
      </dgm:t>
    </dgm:pt>
    <dgm:pt modelId="{76BE9F78-AB90-41DE-9EA2-A4732BCA24D2}">
      <dgm:prSet custT="1"/>
      <dgm:spPr/>
      <dgm:t>
        <a:bodyPr/>
        <a:lstStyle/>
        <a:p>
          <a:pPr>
            <a:lnSpc>
              <a:spcPct val="100000"/>
            </a:lnSpc>
          </a:pPr>
          <a:r>
            <a:rPr lang="en-US" sz="1800" dirty="0"/>
            <a:t>This process is mandatory for all new and re-entry students *</a:t>
          </a:r>
        </a:p>
      </dgm:t>
    </dgm:pt>
    <dgm:pt modelId="{B45D559A-D695-48C6-AF6B-4180ACFAF7EF}" type="parTrans" cxnId="{7AA71E0F-C6B9-48EE-9741-47F5F7090BA9}">
      <dgm:prSet/>
      <dgm:spPr/>
      <dgm:t>
        <a:bodyPr/>
        <a:lstStyle/>
        <a:p>
          <a:endParaRPr lang="en-US"/>
        </a:p>
      </dgm:t>
    </dgm:pt>
    <dgm:pt modelId="{6DDFD36D-A40C-457B-9A3C-DB9C80618B25}" type="sibTrans" cxnId="{7AA71E0F-C6B9-48EE-9741-47F5F7090BA9}">
      <dgm:prSet/>
      <dgm:spPr/>
      <dgm:t>
        <a:bodyPr/>
        <a:lstStyle/>
        <a:p>
          <a:pPr>
            <a:lnSpc>
              <a:spcPct val="100000"/>
            </a:lnSpc>
          </a:pPr>
          <a:endParaRPr lang="en-US"/>
        </a:p>
      </dgm:t>
    </dgm:pt>
    <dgm:pt modelId="{B76761EC-9B54-4FB1-93B6-21FA0BC9E222}">
      <dgm:prSet custT="1"/>
      <dgm:spPr/>
      <dgm:t>
        <a:bodyPr/>
        <a:lstStyle/>
        <a:p>
          <a:pPr>
            <a:lnSpc>
              <a:spcPct val="100000"/>
            </a:lnSpc>
          </a:pPr>
          <a:r>
            <a:rPr lang="en-US" sz="1800" dirty="0"/>
            <a:t>The admissions officer will include the KSR status form in the initial enrollment paperwork</a:t>
          </a:r>
        </a:p>
      </dgm:t>
    </dgm:pt>
    <dgm:pt modelId="{532F3D85-86D6-43BC-A081-34BE6D256D2A}" type="parTrans" cxnId="{855DB75A-804D-440D-8A45-1C80230486D1}">
      <dgm:prSet/>
      <dgm:spPr/>
      <dgm:t>
        <a:bodyPr/>
        <a:lstStyle/>
        <a:p>
          <a:endParaRPr lang="en-US"/>
        </a:p>
      </dgm:t>
    </dgm:pt>
    <dgm:pt modelId="{F338C0AE-9EC6-4AAE-B369-1381BD158A75}" type="sibTrans" cxnId="{855DB75A-804D-440D-8A45-1C80230486D1}">
      <dgm:prSet/>
      <dgm:spPr/>
      <dgm:t>
        <a:bodyPr/>
        <a:lstStyle/>
        <a:p>
          <a:pPr>
            <a:lnSpc>
              <a:spcPct val="100000"/>
            </a:lnSpc>
          </a:pPr>
          <a:endParaRPr lang="en-US"/>
        </a:p>
      </dgm:t>
    </dgm:pt>
    <dgm:pt modelId="{DF68908E-C900-4B7A-8C77-9C1E16BE9509}">
      <dgm:prSet custT="1"/>
      <dgm:spPr/>
      <dgm:t>
        <a:bodyPr/>
        <a:lstStyle/>
        <a:p>
          <a:pPr>
            <a:lnSpc>
              <a:spcPct val="100000"/>
            </a:lnSpc>
          </a:pPr>
          <a:r>
            <a:rPr lang="en-US" sz="1600" dirty="0"/>
            <a:t>A student is deemed a Kentucky Resident with a preponderance of appropriate evidence provided that meets the 13 KAR 2:045 regulation requirement</a:t>
          </a:r>
        </a:p>
      </dgm:t>
    </dgm:pt>
    <dgm:pt modelId="{F3CC24F5-FEE1-4453-B135-6CDD745CF213}" type="parTrans" cxnId="{773711D5-75BA-4A62-88A2-68D4E51F4EED}">
      <dgm:prSet/>
      <dgm:spPr/>
      <dgm:t>
        <a:bodyPr/>
        <a:lstStyle/>
        <a:p>
          <a:endParaRPr lang="en-US"/>
        </a:p>
      </dgm:t>
    </dgm:pt>
    <dgm:pt modelId="{C0549889-45F4-4D0A-8C67-6182248ED404}" type="sibTrans" cxnId="{773711D5-75BA-4A62-88A2-68D4E51F4EED}">
      <dgm:prSet/>
      <dgm:spPr/>
      <dgm:t>
        <a:bodyPr/>
        <a:lstStyle/>
        <a:p>
          <a:endParaRPr lang="en-US"/>
        </a:p>
      </dgm:t>
    </dgm:pt>
    <dgm:pt modelId="{ABE1B741-FF51-4601-A9EE-24C09F024E01}" type="pres">
      <dgm:prSet presAssocID="{70FD4E18-AD62-4127-B5F6-DCAF3C4D73A9}" presName="root" presStyleCnt="0">
        <dgm:presLayoutVars>
          <dgm:dir/>
          <dgm:resizeHandles val="exact"/>
        </dgm:presLayoutVars>
      </dgm:prSet>
      <dgm:spPr/>
    </dgm:pt>
    <dgm:pt modelId="{ED81C915-2210-48F6-A281-DE39C9F900B2}" type="pres">
      <dgm:prSet presAssocID="{70FD4E18-AD62-4127-B5F6-DCAF3C4D73A9}" presName="container" presStyleCnt="0">
        <dgm:presLayoutVars>
          <dgm:dir/>
          <dgm:resizeHandles val="exact"/>
        </dgm:presLayoutVars>
      </dgm:prSet>
      <dgm:spPr/>
    </dgm:pt>
    <dgm:pt modelId="{FC3D5990-1B58-4987-81CF-CFBEAD00B3AD}" type="pres">
      <dgm:prSet presAssocID="{65275555-DC6C-4BCF-8182-89CB8FDAFB75}" presName="compNode" presStyleCnt="0"/>
      <dgm:spPr/>
    </dgm:pt>
    <dgm:pt modelId="{0428FAAB-C663-43BD-82B3-66218A220179}" type="pres">
      <dgm:prSet presAssocID="{65275555-DC6C-4BCF-8182-89CB8FDAFB75}" presName="iconBgRect" presStyleLbl="bgShp" presStyleIdx="0" presStyleCnt="5"/>
      <dgm:spPr/>
    </dgm:pt>
    <dgm:pt modelId="{DF5EC866-1DA2-4825-B7A7-C95FB4FEFB2E}" type="pres">
      <dgm:prSet presAssocID="{65275555-DC6C-4BCF-8182-89CB8FDAFB7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ploma Roll"/>
        </a:ext>
      </dgm:extLst>
    </dgm:pt>
    <dgm:pt modelId="{DA3B3440-5190-423D-B50D-32062F55E87E}" type="pres">
      <dgm:prSet presAssocID="{65275555-DC6C-4BCF-8182-89CB8FDAFB75}" presName="spaceRect" presStyleCnt="0"/>
      <dgm:spPr/>
    </dgm:pt>
    <dgm:pt modelId="{51B2CEAC-F7A9-418D-9728-95817246EB7B}" type="pres">
      <dgm:prSet presAssocID="{65275555-DC6C-4BCF-8182-89CB8FDAFB75}" presName="textRect" presStyleLbl="revTx" presStyleIdx="0" presStyleCnt="5" custLinFactNeighborX="-2507" custLinFactNeighborY="15340">
        <dgm:presLayoutVars>
          <dgm:chMax val="1"/>
          <dgm:chPref val="1"/>
        </dgm:presLayoutVars>
      </dgm:prSet>
      <dgm:spPr/>
    </dgm:pt>
    <dgm:pt modelId="{464DF7C3-28CA-4132-8619-BBA8D822DE4F}" type="pres">
      <dgm:prSet presAssocID="{E0CF0F3C-02D8-4943-BA4A-27CA71D217FC}" presName="sibTrans" presStyleLbl="sibTrans2D1" presStyleIdx="0" presStyleCnt="0"/>
      <dgm:spPr/>
    </dgm:pt>
    <dgm:pt modelId="{11FB38D1-6FB8-4B99-856D-BC0E88BEC48F}" type="pres">
      <dgm:prSet presAssocID="{114A5049-D20C-4981-BAF0-7DE5F8DFD17A}" presName="compNode" presStyleCnt="0"/>
      <dgm:spPr/>
    </dgm:pt>
    <dgm:pt modelId="{7DFBB31B-D6EA-481F-9E6D-82E687A90140}" type="pres">
      <dgm:prSet presAssocID="{114A5049-D20C-4981-BAF0-7DE5F8DFD17A}" presName="iconBgRect" presStyleLbl="bgShp" presStyleIdx="1" presStyleCnt="5"/>
      <dgm:spPr/>
    </dgm:pt>
    <dgm:pt modelId="{57DB0F25-965C-4EA7-8ACB-6A5FBC5C4C20}" type="pres">
      <dgm:prSet presAssocID="{114A5049-D20C-4981-BAF0-7DE5F8DFD17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Judge"/>
        </a:ext>
      </dgm:extLst>
    </dgm:pt>
    <dgm:pt modelId="{4F29E6BA-C1CD-4EB4-A315-7803D62B7129}" type="pres">
      <dgm:prSet presAssocID="{114A5049-D20C-4981-BAF0-7DE5F8DFD17A}" presName="spaceRect" presStyleCnt="0"/>
      <dgm:spPr/>
    </dgm:pt>
    <dgm:pt modelId="{2D070AA0-0E6D-447F-9CBB-958019087004}" type="pres">
      <dgm:prSet presAssocID="{114A5049-D20C-4981-BAF0-7DE5F8DFD17A}" presName="textRect" presStyleLbl="revTx" presStyleIdx="1" presStyleCnt="5" custLinFactNeighborX="-957" custLinFactNeighborY="23695">
        <dgm:presLayoutVars>
          <dgm:chMax val="1"/>
          <dgm:chPref val="1"/>
        </dgm:presLayoutVars>
      </dgm:prSet>
      <dgm:spPr/>
    </dgm:pt>
    <dgm:pt modelId="{B2E1316F-4D4E-4960-AB0F-365A59BF5E61}" type="pres">
      <dgm:prSet presAssocID="{1824AB16-CC54-4451-BFA0-9EE4B263F25A}" presName="sibTrans" presStyleLbl="sibTrans2D1" presStyleIdx="0" presStyleCnt="0"/>
      <dgm:spPr/>
    </dgm:pt>
    <dgm:pt modelId="{9EC92879-2B35-46BC-A044-490EA22A5A6E}" type="pres">
      <dgm:prSet presAssocID="{76BE9F78-AB90-41DE-9EA2-A4732BCA24D2}" presName="compNode" presStyleCnt="0"/>
      <dgm:spPr/>
    </dgm:pt>
    <dgm:pt modelId="{085F3A00-913C-474D-BBC5-CF160A5EED53}" type="pres">
      <dgm:prSet presAssocID="{76BE9F78-AB90-41DE-9EA2-A4732BCA24D2}" presName="iconBgRect" presStyleLbl="bgShp" presStyleIdx="2" presStyleCnt="5"/>
      <dgm:spPr/>
    </dgm:pt>
    <dgm:pt modelId="{6838EE26-C5DD-4060-AFD6-459B8500D655}" type="pres">
      <dgm:prSet presAssocID="{76BE9F78-AB90-41DE-9EA2-A4732BCA24D2}"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assroom"/>
        </a:ext>
      </dgm:extLst>
    </dgm:pt>
    <dgm:pt modelId="{008AC773-B0B0-48A3-9000-C3F6723D8132}" type="pres">
      <dgm:prSet presAssocID="{76BE9F78-AB90-41DE-9EA2-A4732BCA24D2}" presName="spaceRect" presStyleCnt="0"/>
      <dgm:spPr/>
    </dgm:pt>
    <dgm:pt modelId="{FAF7E72A-5265-4642-B4DC-10B852D12AC1}" type="pres">
      <dgm:prSet presAssocID="{76BE9F78-AB90-41DE-9EA2-A4732BCA24D2}" presName="textRect" presStyleLbl="revTx" presStyleIdx="2" presStyleCnt="5">
        <dgm:presLayoutVars>
          <dgm:chMax val="1"/>
          <dgm:chPref val="1"/>
        </dgm:presLayoutVars>
      </dgm:prSet>
      <dgm:spPr/>
    </dgm:pt>
    <dgm:pt modelId="{8A02B4E0-B173-4D6F-BD11-FD73B043194A}" type="pres">
      <dgm:prSet presAssocID="{6DDFD36D-A40C-457B-9A3C-DB9C80618B25}" presName="sibTrans" presStyleLbl="sibTrans2D1" presStyleIdx="0" presStyleCnt="0"/>
      <dgm:spPr/>
    </dgm:pt>
    <dgm:pt modelId="{2DF08311-ED48-4C12-9665-9F67A1C6574B}" type="pres">
      <dgm:prSet presAssocID="{B76761EC-9B54-4FB1-93B6-21FA0BC9E222}" presName="compNode" presStyleCnt="0"/>
      <dgm:spPr/>
    </dgm:pt>
    <dgm:pt modelId="{B2CA28F9-3E39-47AF-B291-D0D68136E356}" type="pres">
      <dgm:prSet presAssocID="{B76761EC-9B54-4FB1-93B6-21FA0BC9E222}" presName="iconBgRect" presStyleLbl="bgShp" presStyleIdx="3" presStyleCnt="5"/>
      <dgm:spPr/>
    </dgm:pt>
    <dgm:pt modelId="{3AECA70F-6F16-4371-A8CC-5553D96F20C6}" type="pres">
      <dgm:prSet presAssocID="{B76761EC-9B54-4FB1-93B6-21FA0BC9E22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 List"/>
        </a:ext>
      </dgm:extLst>
    </dgm:pt>
    <dgm:pt modelId="{E31798BA-8051-4D27-85A0-CD23C4BA863A}" type="pres">
      <dgm:prSet presAssocID="{B76761EC-9B54-4FB1-93B6-21FA0BC9E222}" presName="spaceRect" presStyleCnt="0"/>
      <dgm:spPr/>
    </dgm:pt>
    <dgm:pt modelId="{8C9711C9-413C-4079-BCB4-2C70CE3164BB}" type="pres">
      <dgm:prSet presAssocID="{B76761EC-9B54-4FB1-93B6-21FA0BC9E222}" presName="textRect" presStyleLbl="revTx" presStyleIdx="3" presStyleCnt="5">
        <dgm:presLayoutVars>
          <dgm:chMax val="1"/>
          <dgm:chPref val="1"/>
        </dgm:presLayoutVars>
      </dgm:prSet>
      <dgm:spPr/>
    </dgm:pt>
    <dgm:pt modelId="{A373F59F-8155-4E74-8E13-0BDF803B0BA7}" type="pres">
      <dgm:prSet presAssocID="{F338C0AE-9EC6-4AAE-B369-1381BD158A75}" presName="sibTrans" presStyleLbl="sibTrans2D1" presStyleIdx="0" presStyleCnt="0"/>
      <dgm:spPr/>
    </dgm:pt>
    <dgm:pt modelId="{8F40C9E7-C690-4E16-B350-61640A199701}" type="pres">
      <dgm:prSet presAssocID="{DF68908E-C900-4B7A-8C77-9C1E16BE9509}" presName="compNode" presStyleCnt="0"/>
      <dgm:spPr/>
    </dgm:pt>
    <dgm:pt modelId="{EBA03351-5D30-4326-A0C3-222C224C778C}" type="pres">
      <dgm:prSet presAssocID="{DF68908E-C900-4B7A-8C77-9C1E16BE9509}" presName="iconBgRect" presStyleLbl="bgShp" presStyleIdx="4" presStyleCnt="5"/>
      <dgm:spPr/>
    </dgm:pt>
    <dgm:pt modelId="{B85FC8DA-466B-4880-AF59-AB581F4C67CC}" type="pres">
      <dgm:prSet presAssocID="{DF68908E-C900-4B7A-8C77-9C1E16BE950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ooks"/>
        </a:ext>
      </dgm:extLst>
    </dgm:pt>
    <dgm:pt modelId="{B157A9AD-5FF4-4D0E-8920-28A21B42F61E}" type="pres">
      <dgm:prSet presAssocID="{DF68908E-C900-4B7A-8C77-9C1E16BE9509}" presName="spaceRect" presStyleCnt="0"/>
      <dgm:spPr/>
    </dgm:pt>
    <dgm:pt modelId="{FC1313E0-3299-4DB3-8454-1D0B1856A045}" type="pres">
      <dgm:prSet presAssocID="{DF68908E-C900-4B7A-8C77-9C1E16BE9509}" presName="textRect" presStyleLbl="revTx" presStyleIdx="4" presStyleCnt="5" custLinFactNeighborX="-2393" custLinFactNeighborY="-21438">
        <dgm:presLayoutVars>
          <dgm:chMax val="1"/>
          <dgm:chPref val="1"/>
        </dgm:presLayoutVars>
      </dgm:prSet>
      <dgm:spPr/>
    </dgm:pt>
  </dgm:ptLst>
  <dgm:cxnLst>
    <dgm:cxn modelId="{7AA71E0F-C6B9-48EE-9741-47F5F7090BA9}" srcId="{70FD4E18-AD62-4127-B5F6-DCAF3C4D73A9}" destId="{76BE9F78-AB90-41DE-9EA2-A4732BCA24D2}" srcOrd="2" destOrd="0" parTransId="{B45D559A-D695-48C6-AF6B-4180ACFAF7EF}" sibTransId="{6DDFD36D-A40C-457B-9A3C-DB9C80618B25}"/>
    <dgm:cxn modelId="{0ADE8E12-DD27-48F6-8635-564D19E0C615}" type="presOf" srcId="{114A5049-D20C-4981-BAF0-7DE5F8DFD17A}" destId="{2D070AA0-0E6D-447F-9CBB-958019087004}" srcOrd="0" destOrd="0" presId="urn:microsoft.com/office/officeart/2018/2/layout/IconCircleList"/>
    <dgm:cxn modelId="{EBC25627-611B-4E6A-A878-0589C95453E0}" srcId="{70FD4E18-AD62-4127-B5F6-DCAF3C4D73A9}" destId="{114A5049-D20C-4981-BAF0-7DE5F8DFD17A}" srcOrd="1" destOrd="0" parTransId="{B419E847-4F13-4DA8-B0BF-86B3FD086E8D}" sibTransId="{1824AB16-CC54-4451-BFA0-9EE4B263F25A}"/>
    <dgm:cxn modelId="{3F11EA48-5412-4D9C-9C07-0E61A895DE97}" type="presOf" srcId="{E0CF0F3C-02D8-4943-BA4A-27CA71D217FC}" destId="{464DF7C3-28CA-4132-8619-BBA8D822DE4F}" srcOrd="0" destOrd="0" presId="urn:microsoft.com/office/officeart/2018/2/layout/IconCircleList"/>
    <dgm:cxn modelId="{CC0EF672-A940-4012-9185-9080A6CFCB85}" type="presOf" srcId="{B76761EC-9B54-4FB1-93B6-21FA0BC9E222}" destId="{8C9711C9-413C-4079-BCB4-2C70CE3164BB}" srcOrd="0" destOrd="0" presId="urn:microsoft.com/office/officeart/2018/2/layout/IconCircleList"/>
    <dgm:cxn modelId="{855DB75A-804D-440D-8A45-1C80230486D1}" srcId="{70FD4E18-AD62-4127-B5F6-DCAF3C4D73A9}" destId="{B76761EC-9B54-4FB1-93B6-21FA0BC9E222}" srcOrd="3" destOrd="0" parTransId="{532F3D85-86D6-43BC-A081-34BE6D256D2A}" sibTransId="{F338C0AE-9EC6-4AAE-B369-1381BD158A75}"/>
    <dgm:cxn modelId="{71CDA292-5372-4B35-845C-79EAE5FD8BA9}" type="presOf" srcId="{6DDFD36D-A40C-457B-9A3C-DB9C80618B25}" destId="{8A02B4E0-B173-4D6F-BD11-FD73B043194A}" srcOrd="0" destOrd="0" presId="urn:microsoft.com/office/officeart/2018/2/layout/IconCircleList"/>
    <dgm:cxn modelId="{773711D5-75BA-4A62-88A2-68D4E51F4EED}" srcId="{70FD4E18-AD62-4127-B5F6-DCAF3C4D73A9}" destId="{DF68908E-C900-4B7A-8C77-9C1E16BE9509}" srcOrd="4" destOrd="0" parTransId="{F3CC24F5-FEE1-4453-B135-6CDD745CF213}" sibTransId="{C0549889-45F4-4D0A-8C67-6182248ED404}"/>
    <dgm:cxn modelId="{3E2E64D9-766D-411B-8FA8-EC012D4A7F99}" type="presOf" srcId="{1824AB16-CC54-4451-BFA0-9EE4B263F25A}" destId="{B2E1316F-4D4E-4960-AB0F-365A59BF5E61}" srcOrd="0" destOrd="0" presId="urn:microsoft.com/office/officeart/2018/2/layout/IconCircleList"/>
    <dgm:cxn modelId="{479E67DB-A099-4249-9B45-29F49330007C}" type="presOf" srcId="{65275555-DC6C-4BCF-8182-89CB8FDAFB75}" destId="{51B2CEAC-F7A9-418D-9728-95817246EB7B}" srcOrd="0" destOrd="0" presId="urn:microsoft.com/office/officeart/2018/2/layout/IconCircleList"/>
    <dgm:cxn modelId="{32DBF8DF-A458-409F-B115-C824E2FEC931}" type="presOf" srcId="{DF68908E-C900-4B7A-8C77-9C1E16BE9509}" destId="{FC1313E0-3299-4DB3-8454-1D0B1856A045}" srcOrd="0" destOrd="0" presId="urn:microsoft.com/office/officeart/2018/2/layout/IconCircleList"/>
    <dgm:cxn modelId="{746169E1-56C9-4FDA-9D52-3D452C666A2B}" type="presOf" srcId="{F338C0AE-9EC6-4AAE-B369-1381BD158A75}" destId="{A373F59F-8155-4E74-8E13-0BDF803B0BA7}" srcOrd="0" destOrd="0" presId="urn:microsoft.com/office/officeart/2018/2/layout/IconCircleList"/>
    <dgm:cxn modelId="{B9DA4CE9-61AD-49AC-AB33-F9EBFC80A587}" type="presOf" srcId="{70FD4E18-AD62-4127-B5F6-DCAF3C4D73A9}" destId="{ABE1B741-FF51-4601-A9EE-24C09F024E01}" srcOrd="0" destOrd="0" presId="urn:microsoft.com/office/officeart/2018/2/layout/IconCircleList"/>
    <dgm:cxn modelId="{1C5C6AF0-73F8-4F47-914D-19BCC4C41A0C}" srcId="{70FD4E18-AD62-4127-B5F6-DCAF3C4D73A9}" destId="{65275555-DC6C-4BCF-8182-89CB8FDAFB75}" srcOrd="0" destOrd="0" parTransId="{B9A66DEA-18CA-4D4D-A616-E5518B65EDC0}" sibTransId="{E0CF0F3C-02D8-4943-BA4A-27CA71D217FC}"/>
    <dgm:cxn modelId="{F6269DFF-9096-4043-889E-74E354F1CFF6}" type="presOf" srcId="{76BE9F78-AB90-41DE-9EA2-A4732BCA24D2}" destId="{FAF7E72A-5265-4642-B4DC-10B852D12AC1}" srcOrd="0" destOrd="0" presId="urn:microsoft.com/office/officeart/2018/2/layout/IconCircleList"/>
    <dgm:cxn modelId="{9668873C-64C3-4D94-89C2-FD577DE7B61E}" type="presParOf" srcId="{ABE1B741-FF51-4601-A9EE-24C09F024E01}" destId="{ED81C915-2210-48F6-A281-DE39C9F900B2}" srcOrd="0" destOrd="0" presId="urn:microsoft.com/office/officeart/2018/2/layout/IconCircleList"/>
    <dgm:cxn modelId="{1F407439-2FB7-474B-91D1-450C3C69FD01}" type="presParOf" srcId="{ED81C915-2210-48F6-A281-DE39C9F900B2}" destId="{FC3D5990-1B58-4987-81CF-CFBEAD00B3AD}" srcOrd="0" destOrd="0" presId="urn:microsoft.com/office/officeart/2018/2/layout/IconCircleList"/>
    <dgm:cxn modelId="{3AA1C7D0-5592-4C67-8155-EBC4102EF3B5}" type="presParOf" srcId="{FC3D5990-1B58-4987-81CF-CFBEAD00B3AD}" destId="{0428FAAB-C663-43BD-82B3-66218A220179}" srcOrd="0" destOrd="0" presId="urn:microsoft.com/office/officeart/2018/2/layout/IconCircleList"/>
    <dgm:cxn modelId="{DC588B83-0A90-406A-BF0F-F143E0695786}" type="presParOf" srcId="{FC3D5990-1B58-4987-81CF-CFBEAD00B3AD}" destId="{DF5EC866-1DA2-4825-B7A7-C95FB4FEFB2E}" srcOrd="1" destOrd="0" presId="urn:microsoft.com/office/officeart/2018/2/layout/IconCircleList"/>
    <dgm:cxn modelId="{8E96E97C-9F2E-46AB-8D2B-8D26978B2E4D}" type="presParOf" srcId="{FC3D5990-1B58-4987-81CF-CFBEAD00B3AD}" destId="{DA3B3440-5190-423D-B50D-32062F55E87E}" srcOrd="2" destOrd="0" presId="urn:microsoft.com/office/officeart/2018/2/layout/IconCircleList"/>
    <dgm:cxn modelId="{A9C8062A-7E14-4716-B48C-CFACF924A60E}" type="presParOf" srcId="{FC3D5990-1B58-4987-81CF-CFBEAD00B3AD}" destId="{51B2CEAC-F7A9-418D-9728-95817246EB7B}" srcOrd="3" destOrd="0" presId="urn:microsoft.com/office/officeart/2018/2/layout/IconCircleList"/>
    <dgm:cxn modelId="{219FF675-2805-4C14-81BA-CA6BD3E0F871}" type="presParOf" srcId="{ED81C915-2210-48F6-A281-DE39C9F900B2}" destId="{464DF7C3-28CA-4132-8619-BBA8D822DE4F}" srcOrd="1" destOrd="0" presId="urn:microsoft.com/office/officeart/2018/2/layout/IconCircleList"/>
    <dgm:cxn modelId="{C6EF8606-A68A-4D5E-9C42-7F201E40A030}" type="presParOf" srcId="{ED81C915-2210-48F6-A281-DE39C9F900B2}" destId="{11FB38D1-6FB8-4B99-856D-BC0E88BEC48F}" srcOrd="2" destOrd="0" presId="urn:microsoft.com/office/officeart/2018/2/layout/IconCircleList"/>
    <dgm:cxn modelId="{5487831E-734E-4B3E-BD2E-1D09AC1C261D}" type="presParOf" srcId="{11FB38D1-6FB8-4B99-856D-BC0E88BEC48F}" destId="{7DFBB31B-D6EA-481F-9E6D-82E687A90140}" srcOrd="0" destOrd="0" presId="urn:microsoft.com/office/officeart/2018/2/layout/IconCircleList"/>
    <dgm:cxn modelId="{B94AE520-844A-4030-B9A6-82F1594EA8F7}" type="presParOf" srcId="{11FB38D1-6FB8-4B99-856D-BC0E88BEC48F}" destId="{57DB0F25-965C-4EA7-8ACB-6A5FBC5C4C20}" srcOrd="1" destOrd="0" presId="urn:microsoft.com/office/officeart/2018/2/layout/IconCircleList"/>
    <dgm:cxn modelId="{B985903C-9E65-4095-8D42-8C2B43F7AAD0}" type="presParOf" srcId="{11FB38D1-6FB8-4B99-856D-BC0E88BEC48F}" destId="{4F29E6BA-C1CD-4EB4-A315-7803D62B7129}" srcOrd="2" destOrd="0" presId="urn:microsoft.com/office/officeart/2018/2/layout/IconCircleList"/>
    <dgm:cxn modelId="{D0E66680-043E-4BCB-B623-7CB8E555D586}" type="presParOf" srcId="{11FB38D1-6FB8-4B99-856D-BC0E88BEC48F}" destId="{2D070AA0-0E6D-447F-9CBB-958019087004}" srcOrd="3" destOrd="0" presId="urn:microsoft.com/office/officeart/2018/2/layout/IconCircleList"/>
    <dgm:cxn modelId="{837B559C-E660-43B7-B5DB-645C35FDFDF7}" type="presParOf" srcId="{ED81C915-2210-48F6-A281-DE39C9F900B2}" destId="{B2E1316F-4D4E-4960-AB0F-365A59BF5E61}" srcOrd="3" destOrd="0" presId="urn:microsoft.com/office/officeart/2018/2/layout/IconCircleList"/>
    <dgm:cxn modelId="{B1A2AD2F-362B-486D-87CE-B406A3CEFE1A}" type="presParOf" srcId="{ED81C915-2210-48F6-A281-DE39C9F900B2}" destId="{9EC92879-2B35-46BC-A044-490EA22A5A6E}" srcOrd="4" destOrd="0" presId="urn:microsoft.com/office/officeart/2018/2/layout/IconCircleList"/>
    <dgm:cxn modelId="{82161A9B-1C2B-403A-9D00-33194AFEB955}" type="presParOf" srcId="{9EC92879-2B35-46BC-A044-490EA22A5A6E}" destId="{085F3A00-913C-474D-BBC5-CF160A5EED53}" srcOrd="0" destOrd="0" presId="urn:microsoft.com/office/officeart/2018/2/layout/IconCircleList"/>
    <dgm:cxn modelId="{C075C77A-ECCB-464F-8B0C-F1552A357021}" type="presParOf" srcId="{9EC92879-2B35-46BC-A044-490EA22A5A6E}" destId="{6838EE26-C5DD-4060-AFD6-459B8500D655}" srcOrd="1" destOrd="0" presId="urn:microsoft.com/office/officeart/2018/2/layout/IconCircleList"/>
    <dgm:cxn modelId="{DEDE51AA-3215-4690-940F-F395171A9E26}" type="presParOf" srcId="{9EC92879-2B35-46BC-A044-490EA22A5A6E}" destId="{008AC773-B0B0-48A3-9000-C3F6723D8132}" srcOrd="2" destOrd="0" presId="urn:microsoft.com/office/officeart/2018/2/layout/IconCircleList"/>
    <dgm:cxn modelId="{B20A0A99-A3FD-4068-9A9B-8FBC9C49A6C0}" type="presParOf" srcId="{9EC92879-2B35-46BC-A044-490EA22A5A6E}" destId="{FAF7E72A-5265-4642-B4DC-10B852D12AC1}" srcOrd="3" destOrd="0" presId="urn:microsoft.com/office/officeart/2018/2/layout/IconCircleList"/>
    <dgm:cxn modelId="{7F2D59AF-2997-46F8-BCFF-72BB9BC621AD}" type="presParOf" srcId="{ED81C915-2210-48F6-A281-DE39C9F900B2}" destId="{8A02B4E0-B173-4D6F-BD11-FD73B043194A}" srcOrd="5" destOrd="0" presId="urn:microsoft.com/office/officeart/2018/2/layout/IconCircleList"/>
    <dgm:cxn modelId="{579076BB-B375-44E5-AF2F-539D40267683}" type="presParOf" srcId="{ED81C915-2210-48F6-A281-DE39C9F900B2}" destId="{2DF08311-ED48-4C12-9665-9F67A1C6574B}" srcOrd="6" destOrd="0" presId="urn:microsoft.com/office/officeart/2018/2/layout/IconCircleList"/>
    <dgm:cxn modelId="{9BA80338-234E-4E2F-A458-5ED42E78C717}" type="presParOf" srcId="{2DF08311-ED48-4C12-9665-9F67A1C6574B}" destId="{B2CA28F9-3E39-47AF-B291-D0D68136E356}" srcOrd="0" destOrd="0" presId="urn:microsoft.com/office/officeart/2018/2/layout/IconCircleList"/>
    <dgm:cxn modelId="{A59C8A04-9736-49CF-AC51-F65A537DEFFB}" type="presParOf" srcId="{2DF08311-ED48-4C12-9665-9F67A1C6574B}" destId="{3AECA70F-6F16-4371-A8CC-5553D96F20C6}" srcOrd="1" destOrd="0" presId="urn:microsoft.com/office/officeart/2018/2/layout/IconCircleList"/>
    <dgm:cxn modelId="{4DF4445B-5B74-40A6-9768-85DB49854BAC}" type="presParOf" srcId="{2DF08311-ED48-4C12-9665-9F67A1C6574B}" destId="{E31798BA-8051-4D27-85A0-CD23C4BA863A}" srcOrd="2" destOrd="0" presId="urn:microsoft.com/office/officeart/2018/2/layout/IconCircleList"/>
    <dgm:cxn modelId="{99D85E95-7853-4D13-8FF8-2DC9A6424A5A}" type="presParOf" srcId="{2DF08311-ED48-4C12-9665-9F67A1C6574B}" destId="{8C9711C9-413C-4079-BCB4-2C70CE3164BB}" srcOrd="3" destOrd="0" presId="urn:microsoft.com/office/officeart/2018/2/layout/IconCircleList"/>
    <dgm:cxn modelId="{8E2CB40E-49F7-4392-9616-37F13533FF7D}" type="presParOf" srcId="{ED81C915-2210-48F6-A281-DE39C9F900B2}" destId="{A373F59F-8155-4E74-8E13-0BDF803B0BA7}" srcOrd="7" destOrd="0" presId="urn:microsoft.com/office/officeart/2018/2/layout/IconCircleList"/>
    <dgm:cxn modelId="{3C7133E5-794C-4CE4-8BDB-860142B4B7D7}" type="presParOf" srcId="{ED81C915-2210-48F6-A281-DE39C9F900B2}" destId="{8F40C9E7-C690-4E16-B350-61640A199701}" srcOrd="8" destOrd="0" presId="urn:microsoft.com/office/officeart/2018/2/layout/IconCircleList"/>
    <dgm:cxn modelId="{5FFF17E2-3080-45F2-8FB2-A1BAA01AE26A}" type="presParOf" srcId="{8F40C9E7-C690-4E16-B350-61640A199701}" destId="{EBA03351-5D30-4326-A0C3-222C224C778C}" srcOrd="0" destOrd="0" presId="urn:microsoft.com/office/officeart/2018/2/layout/IconCircleList"/>
    <dgm:cxn modelId="{271D2C45-B825-41C5-8734-87F6D6E9ABB3}" type="presParOf" srcId="{8F40C9E7-C690-4E16-B350-61640A199701}" destId="{B85FC8DA-466B-4880-AF59-AB581F4C67CC}" srcOrd="1" destOrd="0" presId="urn:microsoft.com/office/officeart/2018/2/layout/IconCircleList"/>
    <dgm:cxn modelId="{16AD5D8E-6C29-44AC-B878-C6F4F9315376}" type="presParOf" srcId="{8F40C9E7-C690-4E16-B350-61640A199701}" destId="{B157A9AD-5FF4-4D0E-8920-28A21B42F61E}" srcOrd="2" destOrd="0" presId="urn:microsoft.com/office/officeart/2018/2/layout/IconCircleList"/>
    <dgm:cxn modelId="{A6022F53-E3FE-46DB-A181-E3084B0ADA8F}" type="presParOf" srcId="{8F40C9E7-C690-4E16-B350-61640A199701}" destId="{FC1313E0-3299-4DB3-8454-1D0B1856A045}"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28FAAB-C663-43BD-82B3-66218A220179}">
      <dsp:nvSpPr>
        <dsp:cNvPr id="0" name=""/>
        <dsp:cNvSpPr/>
      </dsp:nvSpPr>
      <dsp:spPr>
        <a:xfrm>
          <a:off x="893181" y="71579"/>
          <a:ext cx="1227894" cy="122789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5EC866-1DA2-4825-B7A7-C95FB4FEFB2E}">
      <dsp:nvSpPr>
        <dsp:cNvPr id="0" name=""/>
        <dsp:cNvSpPr/>
      </dsp:nvSpPr>
      <dsp:spPr>
        <a:xfrm>
          <a:off x="1151038" y="329437"/>
          <a:ext cx="712178" cy="7121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B2CEAC-F7A9-418D-9728-95817246EB7B}">
      <dsp:nvSpPr>
        <dsp:cNvPr id="0" name=""/>
        <dsp:cNvSpPr/>
      </dsp:nvSpPr>
      <dsp:spPr>
        <a:xfrm>
          <a:off x="2311635" y="259938"/>
          <a:ext cx="2894323" cy="1227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During the admissions process the enrolling student must complete the determination of State Residency Status form.  </a:t>
          </a:r>
        </a:p>
      </dsp:txBody>
      <dsp:txXfrm>
        <a:off x="2311635" y="259938"/>
        <a:ext cx="2894323" cy="1227894"/>
      </dsp:txXfrm>
    </dsp:sp>
    <dsp:sp modelId="{7DFBB31B-D6EA-481F-9E6D-82E687A90140}">
      <dsp:nvSpPr>
        <dsp:cNvPr id="0" name=""/>
        <dsp:cNvSpPr/>
      </dsp:nvSpPr>
      <dsp:spPr>
        <a:xfrm>
          <a:off x="5782832" y="71579"/>
          <a:ext cx="1227894" cy="122789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DB0F25-965C-4EA7-8ACB-6A5FBC5C4C20}">
      <dsp:nvSpPr>
        <dsp:cNvPr id="0" name=""/>
        <dsp:cNvSpPr/>
      </dsp:nvSpPr>
      <dsp:spPr>
        <a:xfrm>
          <a:off x="6040690" y="329437"/>
          <a:ext cx="712178" cy="7121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070AA0-0E6D-447F-9CBB-958019087004}">
      <dsp:nvSpPr>
        <dsp:cNvPr id="0" name=""/>
        <dsp:cNvSpPr/>
      </dsp:nvSpPr>
      <dsp:spPr>
        <a:xfrm>
          <a:off x="7246149" y="362528"/>
          <a:ext cx="2894323" cy="1227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t>Admissions staff (designated at each campus) will approve/deny residency based on the information </a:t>
          </a:r>
          <a:r>
            <a:rPr lang="en-US" sz="1600" kern="1200" baseline="0" dirty="0"/>
            <a:t>supplied</a:t>
          </a:r>
          <a:r>
            <a:rPr lang="en-US" sz="1600" kern="1200" dirty="0"/>
            <a:t> by the student on the status form and any supporting documentation the student provides</a:t>
          </a:r>
        </a:p>
      </dsp:txBody>
      <dsp:txXfrm>
        <a:off x="7246149" y="362528"/>
        <a:ext cx="2894323" cy="1227894"/>
      </dsp:txXfrm>
    </dsp:sp>
    <dsp:sp modelId="{085F3A00-913C-474D-BBC5-CF160A5EED53}">
      <dsp:nvSpPr>
        <dsp:cNvPr id="0" name=""/>
        <dsp:cNvSpPr/>
      </dsp:nvSpPr>
      <dsp:spPr>
        <a:xfrm>
          <a:off x="893181" y="2285175"/>
          <a:ext cx="1227894" cy="122789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38EE26-C5DD-4060-AFD6-459B8500D655}">
      <dsp:nvSpPr>
        <dsp:cNvPr id="0" name=""/>
        <dsp:cNvSpPr/>
      </dsp:nvSpPr>
      <dsp:spPr>
        <a:xfrm>
          <a:off x="1151038" y="2543033"/>
          <a:ext cx="712178" cy="7121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F7E72A-5265-4642-B4DC-10B852D12AC1}">
      <dsp:nvSpPr>
        <dsp:cNvPr id="0" name=""/>
        <dsp:cNvSpPr/>
      </dsp:nvSpPr>
      <dsp:spPr>
        <a:xfrm>
          <a:off x="2384195" y="2285175"/>
          <a:ext cx="2894323" cy="1227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This process is mandatory for all new and re-entry students *</a:t>
          </a:r>
        </a:p>
      </dsp:txBody>
      <dsp:txXfrm>
        <a:off x="2384195" y="2285175"/>
        <a:ext cx="2894323" cy="1227894"/>
      </dsp:txXfrm>
    </dsp:sp>
    <dsp:sp modelId="{B2CA28F9-3E39-47AF-B291-D0D68136E356}">
      <dsp:nvSpPr>
        <dsp:cNvPr id="0" name=""/>
        <dsp:cNvSpPr/>
      </dsp:nvSpPr>
      <dsp:spPr>
        <a:xfrm>
          <a:off x="5782832" y="2285175"/>
          <a:ext cx="1227894" cy="122789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ECA70F-6F16-4371-A8CC-5553D96F20C6}">
      <dsp:nvSpPr>
        <dsp:cNvPr id="0" name=""/>
        <dsp:cNvSpPr/>
      </dsp:nvSpPr>
      <dsp:spPr>
        <a:xfrm>
          <a:off x="6040690" y="2543033"/>
          <a:ext cx="712178" cy="7121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9711C9-413C-4079-BCB4-2C70CE3164BB}">
      <dsp:nvSpPr>
        <dsp:cNvPr id="0" name=""/>
        <dsp:cNvSpPr/>
      </dsp:nvSpPr>
      <dsp:spPr>
        <a:xfrm>
          <a:off x="7273847" y="2285175"/>
          <a:ext cx="2894323" cy="1227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dirty="0"/>
            <a:t>The admissions officer will include the KSR status form in the initial enrollment paperwork</a:t>
          </a:r>
        </a:p>
      </dsp:txBody>
      <dsp:txXfrm>
        <a:off x="7273847" y="2285175"/>
        <a:ext cx="2894323" cy="1227894"/>
      </dsp:txXfrm>
    </dsp:sp>
    <dsp:sp modelId="{EBA03351-5D30-4326-A0C3-222C224C778C}">
      <dsp:nvSpPr>
        <dsp:cNvPr id="0" name=""/>
        <dsp:cNvSpPr/>
      </dsp:nvSpPr>
      <dsp:spPr>
        <a:xfrm>
          <a:off x="893181" y="4498772"/>
          <a:ext cx="1227894" cy="122789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5FC8DA-466B-4880-AF59-AB581F4C67CC}">
      <dsp:nvSpPr>
        <dsp:cNvPr id="0" name=""/>
        <dsp:cNvSpPr/>
      </dsp:nvSpPr>
      <dsp:spPr>
        <a:xfrm>
          <a:off x="1151038" y="4756630"/>
          <a:ext cx="712178" cy="71217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1313E0-3299-4DB3-8454-1D0B1856A045}">
      <dsp:nvSpPr>
        <dsp:cNvPr id="0" name=""/>
        <dsp:cNvSpPr/>
      </dsp:nvSpPr>
      <dsp:spPr>
        <a:xfrm>
          <a:off x="2314934" y="4235536"/>
          <a:ext cx="2894323" cy="12278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t>A student is deemed a Kentucky Resident with a preponderance of appropriate evidence provided that meets the 13 KAR 2:045 regulation requirement</a:t>
          </a:r>
        </a:p>
      </dsp:txBody>
      <dsp:txXfrm>
        <a:off x="2314934" y="4235536"/>
        <a:ext cx="2894323" cy="122789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B994CDFC-A7F3-4D91-A561-EC45DF1A6A07}" type="datetimeFigureOut">
              <a:rPr lang="en-US" smtClean="0"/>
              <a:t>12/12/2024</a:t>
            </a:fld>
            <a:endParaRPr lang="en-US"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6D635F71-B947-4A2B-B35B-E7DEDF251726}" type="slidenum">
              <a:rPr lang="en-US" smtClean="0"/>
              <a:t>‹#›</a:t>
            </a:fld>
            <a:endParaRPr lang="en-US" dirty="0"/>
          </a:p>
        </p:txBody>
      </p:sp>
    </p:spTree>
    <p:extLst>
      <p:ext uri="{BB962C8B-B14F-4D97-AF65-F5344CB8AC3E}">
        <p14:creationId xmlns:p14="http://schemas.microsoft.com/office/powerpoint/2010/main" val="1571784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Mandatory for all diploma, certificate, associate BA and COP students</a:t>
            </a:r>
          </a:p>
        </p:txBody>
      </p:sp>
      <p:sp>
        <p:nvSpPr>
          <p:cNvPr id="4" name="Slide Number Placeholder 3"/>
          <p:cNvSpPr>
            <a:spLocks noGrp="1"/>
          </p:cNvSpPr>
          <p:nvPr>
            <p:ph type="sldNum" sz="quarter" idx="5"/>
          </p:nvPr>
        </p:nvSpPr>
        <p:spPr/>
        <p:txBody>
          <a:bodyPr/>
          <a:lstStyle/>
          <a:p>
            <a:fld id="{6D635F71-B947-4A2B-B35B-E7DEDF251726}" type="slidenum">
              <a:rPr lang="en-US" smtClean="0"/>
              <a:t>2</a:t>
            </a:fld>
            <a:endParaRPr lang="en-US" dirty="0"/>
          </a:p>
        </p:txBody>
      </p:sp>
    </p:spTree>
    <p:extLst>
      <p:ext uri="{BB962C8B-B14F-4D97-AF65-F5344CB8AC3E}">
        <p14:creationId xmlns:p14="http://schemas.microsoft.com/office/powerpoint/2010/main" val="3684216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700B27-DE4C-4B9E-BB11-B9027034A00F}" type="datetimeFigureOut">
              <a:rPr lang="en-US" smtClean="0"/>
              <a:pPr/>
              <a:t>12/12/2024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5047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5C51FCE-E4BB-4680-8E50-3C0E348D2609}" type="datetimeFigureOut">
              <a:rPr lang="en-US" smtClean="0"/>
              <a:t>12/12/2024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80485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smtClean="0"/>
              <a:t>12/12/2024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35093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smtClean="0"/>
              <a:t>12/12/2024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59237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smtClean="0"/>
              <a:t>12/12/2024</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24570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66CB97F8-6CEB-469B-AFCC-889F2A2B1D5A}" type="datetimeFigureOut">
              <a:rPr lang="en-US" smtClean="0"/>
              <a:t>12/12/2024</a:t>
            </a:fld>
            <a:endParaRPr lang="en-US" dirty="0"/>
          </a:p>
        </p:txBody>
      </p:sp>
      <p:sp>
        <p:nvSpPr>
          <p:cNvPr id="5" name="Footer Placeholder 3"/>
          <p:cNvSpPr>
            <a:spLocks noGrp="1"/>
          </p:cNvSpPr>
          <p:nvPr>
            <p:ph type="ftr" sz="quarter" idx="11"/>
          </p:nvPr>
        </p:nvSpPr>
        <p:spPr/>
        <p:txBody>
          <a:bodyPr/>
          <a:lstStyle/>
          <a:p>
            <a:r>
              <a:rPr lang="en-US" dirty="0"/>
              <a:t>
              </a:t>
            </a:r>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2949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FA9179F-009E-4FA5-B091-7EBB82A185BD}" type="datetimeFigureOut">
              <a:rPr lang="en-US" smtClean="0"/>
              <a:t>12/12/2024</a:t>
            </a:fld>
            <a:endParaRPr lang="en-US" dirty="0"/>
          </a:p>
        </p:txBody>
      </p:sp>
      <p:sp>
        <p:nvSpPr>
          <p:cNvPr id="5" name="Footer Placeholder 2"/>
          <p:cNvSpPr>
            <a:spLocks noGrp="1"/>
          </p:cNvSpPr>
          <p:nvPr>
            <p:ph type="ftr" sz="quarter" idx="11"/>
          </p:nvPr>
        </p:nvSpPr>
        <p:spPr/>
        <p:txBody>
          <a:bodyPr/>
          <a:lstStyle/>
          <a:p>
            <a:r>
              <a:rPr lang="en-US" dirty="0"/>
              <a:t>
              </a:t>
            </a:r>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1157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E665CEB-0076-4E37-B880-BCEA9784DE0A}" type="datetimeFigureOut">
              <a:rPr lang="en-US" smtClean="0"/>
              <a:t>12/12/2024</a:t>
            </a:fld>
            <a:endParaRPr lang="en-US" dirty="0"/>
          </a:p>
        </p:txBody>
      </p:sp>
      <p:sp>
        <p:nvSpPr>
          <p:cNvPr id="5" name="Footer Placeholder 5"/>
          <p:cNvSpPr>
            <a:spLocks noGrp="1"/>
          </p:cNvSpPr>
          <p:nvPr>
            <p:ph type="ftr" sz="quarter" idx="11"/>
          </p:nvPr>
        </p:nvSpPr>
        <p:spPr/>
        <p:txBody>
          <a:bodyPr/>
          <a:lstStyle/>
          <a:p>
            <a:r>
              <a:rPr lang="en-US" dirty="0"/>
              <a:t>
              </a:t>
            </a:r>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97576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smtClean="0"/>
              <a:t>12/12/2024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42970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0F4739-9812-4A9F-890D-2AD6BA5F6EE8}" type="datetimeFigureOut">
              <a:rPr lang="en-US" smtClean="0"/>
              <a:t>12/12/2024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5527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8845AC5-A3F8-44AA-BA8F-596CDCC976D3}" type="datetimeFigureOut">
              <a:rPr lang="en-US" smtClean="0"/>
              <a:t>12/12/2024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49195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E0D914D-B099-4142-A885-11F276715148}" type="datetimeFigureOut">
              <a:rPr lang="en-US" smtClean="0"/>
              <a:t>12/12/2024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71059565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4D01B4-0AA5-45E6-B2E6-5FA4078AEBCF}" type="datetimeFigureOut">
              <a:rPr lang="en-US" smtClean="0"/>
              <a:t>12/12/2024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1896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147335C-0450-40D7-8612-B3203BED4F28}" type="datetimeFigureOut">
              <a:rPr lang="en-US" smtClean="0"/>
              <a:t>12/12/2024</a:t>
            </a:fld>
            <a:endParaRPr lang="en-US" dirty="0"/>
          </a:p>
        </p:txBody>
      </p:sp>
      <p:sp>
        <p:nvSpPr>
          <p:cNvPr id="4"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8964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246A105-2A1C-4284-B4EA-07CF89B1A393}" type="datetimeFigureOut">
              <a:rPr lang="en-US" smtClean="0"/>
              <a:t>12/12/2024</a:t>
            </a:fld>
            <a:endParaRPr lang="en-US" dirty="0"/>
          </a:p>
        </p:txBody>
      </p:sp>
      <p:sp>
        <p:nvSpPr>
          <p:cNvPr id="4"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847458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smtClean="0"/>
              <a:t>12/12/2024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64525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smtClean="0"/>
              <a:t>12/12/2024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80239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E0D914D-B099-4142-A885-11F276715148}" type="datetimeFigureOut">
              <a:rPr lang="en-US" smtClean="0"/>
              <a:t>12/12/2024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dirty="0"/>
              <a:t>
              </a:t>
            </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85695682"/>
      </p:ext>
    </p:extLst>
  </p:cSld>
  <p:clrMap bg1="dk1" tx1="lt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Kentucky State Residency</a:t>
            </a:r>
          </a:p>
        </p:txBody>
      </p:sp>
      <p:sp>
        <p:nvSpPr>
          <p:cNvPr id="3" name="Subtitle 2"/>
          <p:cNvSpPr>
            <a:spLocks noGrp="1"/>
          </p:cNvSpPr>
          <p:nvPr>
            <p:ph type="subTitle" idx="1"/>
          </p:nvPr>
        </p:nvSpPr>
        <p:spPr/>
        <p:txBody>
          <a:bodyPr/>
          <a:lstStyle/>
          <a:p>
            <a:r>
              <a:rPr lang="en-US" dirty="0"/>
              <a:t>Training</a:t>
            </a:r>
          </a:p>
        </p:txBody>
      </p:sp>
    </p:spTree>
    <p:extLst>
      <p:ext uri="{BB962C8B-B14F-4D97-AF65-F5344CB8AC3E}">
        <p14:creationId xmlns:p14="http://schemas.microsoft.com/office/powerpoint/2010/main" val="516587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162" y="-13855"/>
            <a:ext cx="9404723" cy="1094509"/>
          </a:xfrm>
        </p:spPr>
        <p:txBody>
          <a:bodyPr/>
          <a:lstStyle/>
          <a:p>
            <a:pPr algn="ctr"/>
            <a:r>
              <a:rPr lang="en-US" dirty="0"/>
              <a:t>KSR Training</a:t>
            </a:r>
          </a:p>
        </p:txBody>
      </p:sp>
      <p:graphicFrame>
        <p:nvGraphicFramePr>
          <p:cNvPr id="20" name="Content Placeholder 2">
            <a:extLst>
              <a:ext uri="{FF2B5EF4-FFF2-40B4-BE49-F238E27FC236}">
                <a16:creationId xmlns:a16="http://schemas.microsoft.com/office/drawing/2014/main" id="{0C6A309D-E8F6-F789-FDF5-DEA3CA59C379}"/>
              </a:ext>
            </a:extLst>
          </p:cNvPr>
          <p:cNvGraphicFramePr>
            <a:graphicFrameLocks noGrp="1"/>
          </p:cNvGraphicFramePr>
          <p:nvPr>
            <p:ph idx="1"/>
            <p:extLst>
              <p:ext uri="{D42A27DB-BD31-4B8C-83A1-F6EECF244321}">
                <p14:modId xmlns:p14="http://schemas.microsoft.com/office/powerpoint/2010/main" val="270208026"/>
              </p:ext>
            </p:extLst>
          </p:nvPr>
        </p:nvGraphicFramePr>
        <p:xfrm>
          <a:off x="0" y="914400"/>
          <a:ext cx="11061352" cy="57982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7763682" y="5644173"/>
            <a:ext cx="4428318" cy="923330"/>
          </a:xfrm>
          <a:prstGeom prst="rect">
            <a:avLst/>
          </a:prstGeom>
          <a:noFill/>
        </p:spPr>
        <p:txBody>
          <a:bodyPr wrap="square" rtlCol="0">
            <a:spAutoFit/>
          </a:bodyPr>
          <a:lstStyle/>
          <a:p>
            <a:r>
              <a:rPr lang="en-US" sz="2000" b="1" dirty="0">
                <a:solidFill>
                  <a:schemeClr val="tx2"/>
                </a:solidFill>
              </a:rPr>
              <a:t>* </a:t>
            </a:r>
            <a:r>
              <a:rPr lang="en-US" sz="1600" b="1" dirty="0">
                <a:solidFill>
                  <a:schemeClr val="tx2"/>
                </a:solidFill>
              </a:rPr>
              <a:t>Re-Entry students who have sat out longer than 12 months will need new documents collected</a:t>
            </a:r>
            <a:r>
              <a:rPr lang="en-US" b="1" dirty="0">
                <a:solidFill>
                  <a:schemeClr val="tx2"/>
                </a:solidFill>
              </a:rPr>
              <a:t>.</a:t>
            </a:r>
          </a:p>
        </p:txBody>
      </p:sp>
    </p:spTree>
    <p:extLst>
      <p:ext uri="{BB962C8B-B14F-4D97-AF65-F5344CB8AC3E}">
        <p14:creationId xmlns:p14="http://schemas.microsoft.com/office/powerpoint/2010/main" val="2075781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Verification Process</a:t>
            </a:r>
          </a:p>
        </p:txBody>
      </p:sp>
      <p:sp>
        <p:nvSpPr>
          <p:cNvPr id="3" name="Content Placeholder 2"/>
          <p:cNvSpPr>
            <a:spLocks noGrp="1"/>
          </p:cNvSpPr>
          <p:nvPr>
            <p:ph idx="1"/>
          </p:nvPr>
        </p:nvSpPr>
        <p:spPr>
          <a:xfrm>
            <a:off x="409259" y="1727862"/>
            <a:ext cx="9641575" cy="3975976"/>
          </a:xfrm>
        </p:spPr>
        <p:txBody>
          <a:bodyPr>
            <a:normAutofit/>
          </a:bodyPr>
          <a:lstStyle/>
          <a:p>
            <a:endParaRPr lang="en-US" sz="2000" dirty="0"/>
          </a:p>
          <a:p>
            <a:r>
              <a:rPr lang="en-US" sz="2200" dirty="0"/>
              <a:t>Student completes the Kentucky Residency Form</a:t>
            </a:r>
          </a:p>
          <a:p>
            <a:r>
              <a:rPr lang="en-US" sz="2200" dirty="0"/>
              <a:t>A copy is given to the student for their records</a:t>
            </a:r>
          </a:p>
          <a:p>
            <a:r>
              <a:rPr lang="en-US" sz="2200" dirty="0"/>
              <a:t>Signed KRF is sent for processing to the designated Admission’s staff</a:t>
            </a:r>
          </a:p>
          <a:p>
            <a:r>
              <a:rPr lang="en-US" sz="2200" dirty="0"/>
              <a:t>Form is evaluated and verification documentation is requested from the applicant and thoroughly reviewed to ensure it meets the regulations of 13 KAR 2:045</a:t>
            </a:r>
          </a:p>
          <a:p>
            <a:r>
              <a:rPr lang="en-US" sz="2200" dirty="0"/>
              <a:t>Two documents are required</a:t>
            </a:r>
            <a:r>
              <a:rPr lang="en-US" sz="2200" b="1" dirty="0"/>
              <a:t>, </a:t>
            </a:r>
            <a:r>
              <a:rPr lang="en-US" sz="2200" b="1" dirty="0">
                <a:solidFill>
                  <a:srgbClr val="FF0000"/>
                </a:solidFill>
              </a:rPr>
              <a:t>one from Primary list and one from Secondary list*</a:t>
            </a:r>
            <a:r>
              <a:rPr lang="en-US" sz="2200" b="1" dirty="0"/>
              <a:t> </a:t>
            </a:r>
            <a:r>
              <a:rPr lang="en-US" sz="2200" dirty="0"/>
              <a:t>to determine eligibility for Kentucky Residency</a:t>
            </a:r>
          </a:p>
        </p:txBody>
      </p:sp>
      <p:sp>
        <p:nvSpPr>
          <p:cNvPr id="4" name="TextBox 3"/>
          <p:cNvSpPr txBox="1"/>
          <p:nvPr/>
        </p:nvSpPr>
        <p:spPr>
          <a:xfrm>
            <a:off x="7038109" y="5703838"/>
            <a:ext cx="4744632" cy="954107"/>
          </a:xfrm>
          <a:prstGeom prst="rect">
            <a:avLst/>
          </a:prstGeom>
          <a:noFill/>
        </p:spPr>
        <p:txBody>
          <a:bodyPr wrap="square" rtlCol="0">
            <a:spAutoFit/>
          </a:bodyPr>
          <a:lstStyle/>
          <a:p>
            <a:r>
              <a:rPr lang="en-US" sz="2400" dirty="0">
                <a:solidFill>
                  <a:schemeClr val="tx2"/>
                </a:solidFill>
              </a:rPr>
              <a:t>*</a:t>
            </a:r>
            <a:r>
              <a:rPr lang="en-US" sz="1600" dirty="0">
                <a:solidFill>
                  <a:schemeClr val="tx2"/>
                </a:solidFill>
              </a:rPr>
              <a:t>If student absolutely does not have a secondary doc, then the KSR determination can be made on 2 primary docs.</a:t>
            </a:r>
          </a:p>
        </p:txBody>
      </p:sp>
    </p:spTree>
    <p:extLst>
      <p:ext uri="{BB962C8B-B14F-4D97-AF65-F5344CB8AC3E}">
        <p14:creationId xmlns:p14="http://schemas.microsoft.com/office/powerpoint/2010/main" val="3836340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281879"/>
            <a:ext cx="9404723" cy="1400530"/>
          </a:xfrm>
        </p:spPr>
        <p:txBody>
          <a:bodyPr/>
          <a:lstStyle/>
          <a:p>
            <a:pPr algn="ctr"/>
            <a:r>
              <a:rPr lang="en-US" dirty="0"/>
              <a:t>Primary List</a:t>
            </a:r>
          </a:p>
        </p:txBody>
      </p:sp>
      <p:sp>
        <p:nvSpPr>
          <p:cNvPr id="3" name="Content Placeholder 2"/>
          <p:cNvSpPr>
            <a:spLocks noGrp="1"/>
          </p:cNvSpPr>
          <p:nvPr>
            <p:ph idx="1"/>
          </p:nvPr>
        </p:nvSpPr>
        <p:spPr>
          <a:xfrm>
            <a:off x="771804" y="1214203"/>
            <a:ext cx="10774085" cy="5441429"/>
          </a:xfrm>
        </p:spPr>
        <p:txBody>
          <a:bodyPr>
            <a:normAutofit/>
          </a:bodyPr>
          <a:lstStyle/>
          <a:p>
            <a:r>
              <a:rPr lang="en-US" sz="2200" dirty="0"/>
              <a:t>Copy of KY state taxes from the calendar year preceding the date of application for a change in residency status – Full Year resident</a:t>
            </a:r>
          </a:p>
          <a:p>
            <a:r>
              <a:rPr lang="en-US" sz="2200" dirty="0"/>
              <a:t>Copy of high school transcript from a KY high school from no more than two years prior to the start date of attendance at this institution </a:t>
            </a:r>
          </a:p>
          <a:p>
            <a:r>
              <a:rPr lang="en-US" sz="2200" dirty="0"/>
              <a:t>Letter from KY employer on company letterhead with entire date of employment (needs to be no less than one year) and include student’s KY address on file with the employer</a:t>
            </a:r>
          </a:p>
          <a:p>
            <a:r>
              <a:rPr lang="en-US" sz="2200" dirty="0"/>
              <a:t> a copy of W2 from the previous year’s employment showing at least $10,000 income</a:t>
            </a:r>
          </a:p>
          <a:p>
            <a:r>
              <a:rPr lang="en-US" sz="2200" dirty="0"/>
              <a:t>Proof of attendance in an out of state school where out of state tuition was paid</a:t>
            </a:r>
          </a:p>
          <a:p>
            <a:r>
              <a:rPr lang="en-US" sz="2200" dirty="0"/>
              <a:t>Copy of state issued license or certification used for professional or occupational purposes in Kentucky</a:t>
            </a:r>
          </a:p>
        </p:txBody>
      </p:sp>
    </p:spTree>
    <p:extLst>
      <p:ext uri="{BB962C8B-B14F-4D97-AF65-F5344CB8AC3E}">
        <p14:creationId xmlns:p14="http://schemas.microsoft.com/office/powerpoint/2010/main" val="3470514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161773"/>
            <a:ext cx="9404723" cy="797597"/>
          </a:xfrm>
        </p:spPr>
        <p:txBody>
          <a:bodyPr/>
          <a:lstStyle/>
          <a:p>
            <a:pPr algn="ctr"/>
            <a:r>
              <a:rPr lang="en-US" dirty="0"/>
              <a:t>Primary List, Continued</a:t>
            </a:r>
          </a:p>
        </p:txBody>
      </p:sp>
      <p:sp>
        <p:nvSpPr>
          <p:cNvPr id="3" name="Content Placeholder 2"/>
          <p:cNvSpPr>
            <a:spLocks noGrp="1"/>
          </p:cNvSpPr>
          <p:nvPr>
            <p:ph idx="1"/>
          </p:nvPr>
        </p:nvSpPr>
        <p:spPr>
          <a:xfrm>
            <a:off x="646111" y="1109273"/>
            <a:ext cx="11130253" cy="5586954"/>
          </a:xfrm>
        </p:spPr>
        <p:txBody>
          <a:bodyPr>
            <a:normAutofit fontScale="55000" lnSpcReduction="20000"/>
          </a:bodyPr>
          <a:lstStyle/>
          <a:p>
            <a:r>
              <a:rPr lang="en-US" sz="3600" dirty="0"/>
              <a:t>Proof of payment of real property taxes in Kentucky, must be on KY residence</a:t>
            </a:r>
          </a:p>
          <a:p>
            <a:pPr marL="0" indent="0">
              <a:buNone/>
            </a:pPr>
            <a:endParaRPr lang="en-US" sz="3600" dirty="0"/>
          </a:p>
          <a:p>
            <a:r>
              <a:rPr lang="en-US" sz="3600" dirty="0"/>
              <a:t>Copy of mortgage or deed from property in Kentucky, if the property was used by the student as a residence preceding the date of application for determination of residency status</a:t>
            </a:r>
          </a:p>
          <a:p>
            <a:pPr marL="0" indent="0">
              <a:buNone/>
            </a:pPr>
            <a:endParaRPr lang="en-US" sz="3600" dirty="0"/>
          </a:p>
          <a:p>
            <a:r>
              <a:rPr lang="en-US" sz="3600" dirty="0"/>
              <a:t>Copy of marriage license along with proof that the spouse was a resident of Kentucky 12 months prior to the marriage</a:t>
            </a:r>
          </a:p>
          <a:p>
            <a:pPr marL="0" indent="0">
              <a:buNone/>
            </a:pPr>
            <a:endParaRPr lang="en-US" sz="3600" dirty="0"/>
          </a:p>
          <a:p>
            <a:r>
              <a:rPr lang="en-US" sz="3600" dirty="0"/>
              <a:t>Proof of continued presence in Kentucky during academic breaks, and the extent to which a student is dependent on student financial aid to provide basic sustenance</a:t>
            </a:r>
          </a:p>
          <a:p>
            <a:pPr marL="0" indent="0">
              <a:buNone/>
            </a:pPr>
            <a:endParaRPr lang="en-US" sz="3600" dirty="0"/>
          </a:p>
          <a:p>
            <a:r>
              <a:rPr lang="en-US" sz="3600" dirty="0"/>
              <a:t>A copy of student’s DD-214 that shows KY as home of record – Student must return to KY within 6 months of separation from military and separation date must be within 12 months prior to enrollment</a:t>
            </a:r>
          </a:p>
          <a:p>
            <a:pPr marL="0" indent="0">
              <a:buNone/>
            </a:pPr>
            <a:endParaRPr lang="en-US" sz="3600" dirty="0"/>
          </a:p>
          <a:p>
            <a:r>
              <a:rPr lang="en-US" sz="3600" dirty="0"/>
              <a:t>Copy of military orders showing active duty and permanent duty station in KY</a:t>
            </a:r>
          </a:p>
          <a:p>
            <a:endParaRPr lang="en-US" dirty="0"/>
          </a:p>
        </p:txBody>
      </p:sp>
    </p:spTree>
    <p:extLst>
      <p:ext uri="{BB962C8B-B14F-4D97-AF65-F5344CB8AC3E}">
        <p14:creationId xmlns:p14="http://schemas.microsoft.com/office/powerpoint/2010/main" val="4105668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072" y="111812"/>
            <a:ext cx="9404723" cy="1400530"/>
          </a:xfrm>
        </p:spPr>
        <p:txBody>
          <a:bodyPr/>
          <a:lstStyle/>
          <a:p>
            <a:pPr algn="ctr"/>
            <a:r>
              <a:rPr lang="en-US" dirty="0"/>
              <a:t>Secondary List</a:t>
            </a:r>
          </a:p>
        </p:txBody>
      </p:sp>
      <p:sp>
        <p:nvSpPr>
          <p:cNvPr id="3" name="Content Placeholder 2"/>
          <p:cNvSpPr>
            <a:spLocks noGrp="1"/>
          </p:cNvSpPr>
          <p:nvPr>
            <p:ph idx="1"/>
          </p:nvPr>
        </p:nvSpPr>
        <p:spPr>
          <a:xfrm>
            <a:off x="509666" y="1199213"/>
            <a:ext cx="11169715" cy="5246557"/>
          </a:xfrm>
        </p:spPr>
        <p:txBody>
          <a:bodyPr>
            <a:normAutofit lnSpcReduction="10000"/>
          </a:bodyPr>
          <a:lstStyle/>
          <a:p>
            <a:endParaRPr lang="en-US" sz="2000" dirty="0"/>
          </a:p>
          <a:p>
            <a:r>
              <a:rPr lang="en-US" sz="2200" dirty="0"/>
              <a:t>Kentucky automobile registration</a:t>
            </a:r>
          </a:p>
          <a:p>
            <a:pPr marL="0" indent="0">
              <a:buNone/>
            </a:pPr>
            <a:endParaRPr lang="en-US" sz="2200" dirty="0"/>
          </a:p>
          <a:p>
            <a:r>
              <a:rPr lang="en-US" sz="2200" dirty="0"/>
              <a:t>Kentucky driver’s license (driver’s license can’t be expired and no Military IDs can be accepted)</a:t>
            </a:r>
          </a:p>
          <a:p>
            <a:endParaRPr lang="en-US" sz="2200" dirty="0"/>
          </a:p>
          <a:p>
            <a:r>
              <a:rPr lang="en-US" sz="2200" dirty="0"/>
              <a:t>Registration as a Kentucky voter</a:t>
            </a:r>
          </a:p>
          <a:p>
            <a:pPr marL="0" indent="0">
              <a:buNone/>
            </a:pPr>
            <a:endParaRPr lang="en-US" sz="2200" dirty="0"/>
          </a:p>
          <a:p>
            <a:r>
              <a:rPr lang="en-US" sz="2200" dirty="0"/>
              <a:t>Long-term lease of at least twelve (12) consecutive months of non-collegiate housing</a:t>
            </a:r>
          </a:p>
          <a:p>
            <a:pPr marL="0" indent="0">
              <a:buNone/>
            </a:pPr>
            <a:r>
              <a:rPr lang="en-US" sz="2200" dirty="0"/>
              <a:t> </a:t>
            </a:r>
          </a:p>
          <a:p>
            <a:r>
              <a:rPr lang="en-US" sz="2200" b="1" dirty="0"/>
              <a:t>Only one document from the secondary list may be used in determining residency</a:t>
            </a:r>
          </a:p>
        </p:txBody>
      </p:sp>
    </p:spTree>
    <p:extLst>
      <p:ext uri="{BB962C8B-B14F-4D97-AF65-F5344CB8AC3E}">
        <p14:creationId xmlns:p14="http://schemas.microsoft.com/office/powerpoint/2010/main" val="507277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3821" y="37082"/>
            <a:ext cx="9404723" cy="1400530"/>
          </a:xfrm>
        </p:spPr>
        <p:txBody>
          <a:bodyPr/>
          <a:lstStyle/>
          <a:p>
            <a:pPr algn="ctr"/>
            <a:r>
              <a:rPr lang="en-US" dirty="0"/>
              <a:t>Evaluation of Form</a:t>
            </a:r>
          </a:p>
        </p:txBody>
      </p:sp>
      <p:sp>
        <p:nvSpPr>
          <p:cNvPr id="3" name="Content Placeholder 2"/>
          <p:cNvSpPr>
            <a:spLocks noGrp="1"/>
          </p:cNvSpPr>
          <p:nvPr>
            <p:ph idx="1"/>
          </p:nvPr>
        </p:nvSpPr>
        <p:spPr>
          <a:xfrm>
            <a:off x="302902" y="927100"/>
            <a:ext cx="11586196" cy="5893818"/>
          </a:xfrm>
        </p:spPr>
        <p:txBody>
          <a:bodyPr vert="horz" lIns="91440" tIns="45720" rIns="91440" bIns="45720" rtlCol="0" anchor="t">
            <a:noAutofit/>
          </a:bodyPr>
          <a:lstStyle/>
          <a:p>
            <a:r>
              <a:rPr lang="en-US" dirty="0"/>
              <a:t>If documentation received meets the 13 KAR 2:045 regulations, </a:t>
            </a:r>
          </a:p>
          <a:p>
            <a:pPr lvl="1"/>
            <a:r>
              <a:rPr lang="en-US" sz="1900" dirty="0"/>
              <a:t>the applicant is declared approved </a:t>
            </a:r>
          </a:p>
          <a:p>
            <a:pPr marL="457200" lvl="1" indent="0">
              <a:buNone/>
            </a:pPr>
            <a:endParaRPr lang="en-US" sz="1900" dirty="0"/>
          </a:p>
          <a:p>
            <a:pPr lvl="1"/>
            <a:r>
              <a:rPr lang="en-US" sz="1900" dirty="0"/>
              <a:t> Document Tracking in CampusNexus (CN) is updated to ADM- KY Residency Determination -- “</a:t>
            </a:r>
            <a:r>
              <a:rPr lang="en-US" sz="2400" b="1" dirty="0"/>
              <a:t>Approved</a:t>
            </a:r>
            <a:r>
              <a:rPr lang="en-US" sz="1900" dirty="0"/>
              <a:t>”.</a:t>
            </a:r>
          </a:p>
          <a:p>
            <a:pPr marL="457200" lvl="1" indent="0">
              <a:buNone/>
            </a:pPr>
            <a:endParaRPr lang="en-US" sz="1900" dirty="0"/>
          </a:p>
          <a:p>
            <a:pPr lvl="1"/>
            <a:r>
              <a:rPr lang="en-US" sz="1900" dirty="0"/>
              <a:t>Comments are added denoting which supporting documents were provided and approved, </a:t>
            </a:r>
          </a:p>
          <a:p>
            <a:pPr marL="457200" lvl="1" indent="0">
              <a:buNone/>
            </a:pPr>
            <a:endParaRPr lang="en-US" sz="1900" dirty="0"/>
          </a:p>
          <a:p>
            <a:pPr lvl="1"/>
            <a:r>
              <a:rPr lang="en-US" sz="1900" dirty="0"/>
              <a:t>KRF and supporting documents will be uploaded and linked to the “ADM- KY Residency Determination” document in CN. </a:t>
            </a:r>
          </a:p>
          <a:p>
            <a:pPr marL="457200" lvl="1" indent="0">
              <a:buNone/>
            </a:pPr>
            <a:r>
              <a:rPr lang="en-US" sz="1900" dirty="0"/>
              <a:t> </a:t>
            </a:r>
          </a:p>
          <a:p>
            <a:pPr lvl="1"/>
            <a:r>
              <a:rPr lang="en-US" sz="1900" dirty="0"/>
              <a:t>When the ADM – KY Residency Determination document status is changed to “Approved”, then the ADM - KY Approved Residency activity is triggered to a designated FP staff member</a:t>
            </a:r>
          </a:p>
        </p:txBody>
      </p:sp>
    </p:spTree>
    <p:extLst>
      <p:ext uri="{BB962C8B-B14F-4D97-AF65-F5344CB8AC3E}">
        <p14:creationId xmlns:p14="http://schemas.microsoft.com/office/powerpoint/2010/main" val="4001868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9966" y="225972"/>
            <a:ext cx="9404723" cy="1400530"/>
          </a:xfrm>
        </p:spPr>
        <p:txBody>
          <a:bodyPr/>
          <a:lstStyle/>
          <a:p>
            <a:pPr algn="ctr"/>
            <a:r>
              <a:rPr lang="en-US" dirty="0"/>
              <a:t>Evaluation of Form</a:t>
            </a:r>
          </a:p>
        </p:txBody>
      </p:sp>
      <p:sp>
        <p:nvSpPr>
          <p:cNvPr id="3" name="Content Placeholder 2"/>
          <p:cNvSpPr>
            <a:spLocks noGrp="1"/>
          </p:cNvSpPr>
          <p:nvPr>
            <p:ph idx="1"/>
          </p:nvPr>
        </p:nvSpPr>
        <p:spPr>
          <a:xfrm>
            <a:off x="981620" y="1414735"/>
            <a:ext cx="10550413" cy="5069191"/>
          </a:xfrm>
        </p:spPr>
        <p:txBody>
          <a:bodyPr>
            <a:normAutofit fontScale="40000" lnSpcReduction="20000"/>
          </a:bodyPr>
          <a:lstStyle/>
          <a:p>
            <a:pPr lvl="1"/>
            <a:r>
              <a:rPr lang="en-US" sz="6500" dirty="0"/>
              <a:t>If inadequate documentation is supplied by the applicant and the status cannot be verified: </a:t>
            </a:r>
          </a:p>
          <a:p>
            <a:pPr marL="457200" lvl="1" indent="0">
              <a:buNone/>
            </a:pPr>
            <a:endParaRPr lang="en-US" sz="6500" dirty="0"/>
          </a:p>
          <a:p>
            <a:pPr lvl="2"/>
            <a:r>
              <a:rPr lang="en-US" sz="6500" dirty="0"/>
              <a:t>Applicant is declared not approved and Document Tracking in CN is updated to ADM- KY Residency Determination -- “</a:t>
            </a:r>
            <a:r>
              <a:rPr lang="en-US" sz="6500" b="1" dirty="0"/>
              <a:t>Received Insufficient</a:t>
            </a:r>
            <a:r>
              <a:rPr lang="en-US" sz="6500" dirty="0"/>
              <a:t>”. Comments are added denoting which supporting documents were provided.</a:t>
            </a:r>
          </a:p>
          <a:p>
            <a:pPr marL="914400" lvl="2" indent="0">
              <a:buNone/>
            </a:pPr>
            <a:endParaRPr lang="en-US" sz="6500" dirty="0"/>
          </a:p>
          <a:p>
            <a:pPr lvl="2"/>
            <a:r>
              <a:rPr lang="en-US" sz="6500" dirty="0"/>
              <a:t>The KY Residency activity is created which sends student an email telling them what they need to submit to become sufficient.</a:t>
            </a:r>
          </a:p>
          <a:p>
            <a:pPr marL="0" indent="0">
              <a:buNone/>
            </a:pPr>
            <a:endParaRPr lang="en-US" dirty="0"/>
          </a:p>
        </p:txBody>
      </p:sp>
    </p:spTree>
    <p:extLst>
      <p:ext uri="{BB962C8B-B14F-4D97-AF65-F5344CB8AC3E}">
        <p14:creationId xmlns:p14="http://schemas.microsoft.com/office/powerpoint/2010/main" val="1939057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8402" y="162910"/>
            <a:ext cx="9404723" cy="1400530"/>
          </a:xfrm>
        </p:spPr>
        <p:txBody>
          <a:bodyPr/>
          <a:lstStyle/>
          <a:p>
            <a:pPr algn="ctr"/>
            <a:r>
              <a:rPr lang="en-US" dirty="0"/>
              <a:t>Evaluation of Form</a:t>
            </a:r>
          </a:p>
        </p:txBody>
      </p:sp>
      <p:sp>
        <p:nvSpPr>
          <p:cNvPr id="3" name="Content Placeholder 2"/>
          <p:cNvSpPr>
            <a:spLocks noGrp="1"/>
          </p:cNvSpPr>
          <p:nvPr>
            <p:ph idx="1"/>
          </p:nvPr>
        </p:nvSpPr>
        <p:spPr>
          <a:xfrm>
            <a:off x="196353" y="1025236"/>
            <a:ext cx="11815538" cy="5832763"/>
          </a:xfrm>
        </p:spPr>
        <p:txBody>
          <a:bodyPr>
            <a:noAutofit/>
          </a:bodyPr>
          <a:lstStyle/>
          <a:p>
            <a:pPr lvl="1"/>
            <a:r>
              <a:rPr lang="en-US" dirty="0"/>
              <a:t>If no documentation is supplied by the applicant and the status cannot be verified:</a:t>
            </a:r>
          </a:p>
          <a:p>
            <a:pPr marL="457200" lvl="1" indent="0">
              <a:buNone/>
            </a:pPr>
            <a:r>
              <a:rPr lang="en-US" dirty="0"/>
              <a:t> </a:t>
            </a:r>
          </a:p>
          <a:p>
            <a:pPr lvl="2"/>
            <a:r>
              <a:rPr lang="en-US" sz="1800" dirty="0"/>
              <a:t>Applicant is declared not approved and Document Tracking in CN is updated to ADM- KY Residency Determination -- “</a:t>
            </a:r>
            <a:r>
              <a:rPr lang="en-US" sz="2400" b="1" dirty="0"/>
              <a:t>Requested</a:t>
            </a:r>
            <a:r>
              <a:rPr lang="en-US" sz="1800" dirty="0"/>
              <a:t>”. </a:t>
            </a:r>
          </a:p>
          <a:p>
            <a:pPr marL="914400" lvl="2" indent="0">
              <a:buNone/>
            </a:pPr>
            <a:endParaRPr lang="en-US" sz="1800" dirty="0"/>
          </a:p>
          <a:p>
            <a:pPr lvl="2"/>
            <a:r>
              <a:rPr lang="en-US" sz="1800" dirty="0"/>
              <a:t>The designated campus official will conduct multiple follow-up with the applicant to ensure due diligence is made in collecting this documentation:</a:t>
            </a:r>
          </a:p>
          <a:p>
            <a:pPr lvl="4"/>
            <a:r>
              <a:rPr lang="en-US" sz="1800" dirty="0"/>
              <a:t>Sending an email to the applicant requesting proof of residency documentation, followed up with a phone call. </a:t>
            </a:r>
          </a:p>
          <a:p>
            <a:pPr lvl="4"/>
            <a:r>
              <a:rPr lang="en-US" sz="1800" dirty="0"/>
              <a:t>If no response within a week, another email is sent to the applicant, requesting proof of residency documentation.</a:t>
            </a:r>
          </a:p>
          <a:p>
            <a:pPr lvl="4"/>
            <a:r>
              <a:rPr lang="en-US" sz="1800" dirty="0"/>
              <a:t>If no response within two weeks of second contact attempt, a final email is sent to the applicant, requesting proof of residency documentation. </a:t>
            </a:r>
          </a:p>
          <a:p>
            <a:pPr lvl="4"/>
            <a:r>
              <a:rPr lang="en-US" sz="1800" dirty="0"/>
              <a:t>If no response is received within two weeks of the final email attempt, the applicant is declared not approved and Document Tracking in CN remains as ADM- KY Residency Determination -- “Requested”.</a:t>
            </a:r>
          </a:p>
          <a:p>
            <a:pPr marL="0" indent="0">
              <a:buNone/>
            </a:pPr>
            <a:endParaRPr lang="en-US" sz="2000" dirty="0"/>
          </a:p>
        </p:txBody>
      </p:sp>
    </p:spTree>
    <p:extLst>
      <p:ext uri="{BB962C8B-B14F-4D97-AF65-F5344CB8AC3E}">
        <p14:creationId xmlns:p14="http://schemas.microsoft.com/office/powerpoint/2010/main" val="727139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Evaluation of Form</a:t>
            </a:r>
          </a:p>
        </p:txBody>
      </p:sp>
      <p:sp>
        <p:nvSpPr>
          <p:cNvPr id="3" name="Content Placeholder 2"/>
          <p:cNvSpPr>
            <a:spLocks noGrp="1"/>
          </p:cNvSpPr>
          <p:nvPr>
            <p:ph idx="1"/>
          </p:nvPr>
        </p:nvSpPr>
        <p:spPr>
          <a:xfrm>
            <a:off x="836300" y="1550554"/>
            <a:ext cx="10843082" cy="4854728"/>
          </a:xfrm>
        </p:spPr>
        <p:txBody>
          <a:bodyPr>
            <a:normAutofit lnSpcReduction="10000"/>
          </a:bodyPr>
          <a:lstStyle/>
          <a:p>
            <a:pPr lvl="1"/>
            <a:r>
              <a:rPr lang="en-US" sz="2200" dirty="0"/>
              <a:t>If the applicant is not a KY resident determined by school or by self certification: </a:t>
            </a:r>
          </a:p>
          <a:p>
            <a:pPr marL="457200" lvl="1" indent="0">
              <a:buNone/>
            </a:pPr>
            <a:endParaRPr lang="en-US" sz="2200" dirty="0"/>
          </a:p>
          <a:p>
            <a:pPr lvl="2"/>
            <a:r>
              <a:rPr lang="en-US" sz="2200" dirty="0"/>
              <a:t>Document Tracking in CN is updated to ADM- KY Residency Determination  -- “</a:t>
            </a:r>
            <a:r>
              <a:rPr lang="en-US" sz="2400" b="1" dirty="0"/>
              <a:t>Denied</a:t>
            </a:r>
            <a:r>
              <a:rPr lang="en-US" sz="2200" dirty="0"/>
              <a:t>” </a:t>
            </a:r>
          </a:p>
          <a:p>
            <a:pPr lvl="2"/>
            <a:r>
              <a:rPr lang="en-US" sz="2200" dirty="0"/>
              <a:t>Self-certified Non-KY Resident or School determined non- resident is written in the comment section of Document Tracking </a:t>
            </a:r>
          </a:p>
          <a:p>
            <a:pPr lvl="2"/>
            <a:r>
              <a:rPr lang="en-US" sz="2200" dirty="0"/>
              <a:t>An activity is created in General Comments and changed to KY Res Determination with notes that say No Longer Needed Self-certified Non-KY Resident</a:t>
            </a:r>
          </a:p>
          <a:p>
            <a:pPr marL="914400" lvl="2" indent="0">
              <a:buNone/>
            </a:pPr>
            <a:endParaRPr lang="en-US" sz="2200" dirty="0"/>
          </a:p>
          <a:p>
            <a:pPr lvl="0"/>
            <a:r>
              <a:rPr lang="en-US" sz="2200" dirty="0"/>
              <a:t>All forms and documentation is filed in student academic file.</a:t>
            </a:r>
          </a:p>
          <a:p>
            <a:pPr marL="0" indent="0">
              <a:buNone/>
            </a:pPr>
            <a:endParaRPr lang="en-US" sz="2000" dirty="0"/>
          </a:p>
        </p:txBody>
      </p:sp>
    </p:spTree>
    <p:extLst>
      <p:ext uri="{BB962C8B-B14F-4D97-AF65-F5344CB8AC3E}">
        <p14:creationId xmlns:p14="http://schemas.microsoft.com/office/powerpoint/2010/main" val="4103467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Appeals Process</a:t>
            </a:r>
          </a:p>
        </p:txBody>
      </p:sp>
      <p:sp>
        <p:nvSpPr>
          <p:cNvPr id="3" name="Content Placeholder 2"/>
          <p:cNvSpPr>
            <a:spLocks noGrp="1"/>
          </p:cNvSpPr>
          <p:nvPr>
            <p:ph idx="1"/>
          </p:nvPr>
        </p:nvSpPr>
        <p:spPr/>
        <p:txBody>
          <a:bodyPr/>
          <a:lstStyle/>
          <a:p>
            <a:pPr lvl="0"/>
            <a:r>
              <a:rPr lang="en-US" sz="2400" dirty="0"/>
              <a:t>Should the applicant appeal the residency decision, a request of appeal will be submitted in writing and any additional documentation to verify residency will be submitted to the Director of Admissions or the Associate Director of Admissions for final review. Response to the appeal will be given to the student within 5 (five) business days from the date of receipt of request.  </a:t>
            </a:r>
          </a:p>
          <a:p>
            <a:endParaRPr lang="en-US" dirty="0"/>
          </a:p>
        </p:txBody>
      </p:sp>
    </p:spTree>
    <p:extLst>
      <p:ext uri="{BB962C8B-B14F-4D97-AF65-F5344CB8AC3E}">
        <p14:creationId xmlns:p14="http://schemas.microsoft.com/office/powerpoint/2010/main" val="2299265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Documentation in CN</a:t>
            </a:r>
          </a:p>
        </p:txBody>
      </p:sp>
      <p:sp>
        <p:nvSpPr>
          <p:cNvPr id="3" name="Content Placeholder 2"/>
          <p:cNvSpPr>
            <a:spLocks noGrp="1"/>
          </p:cNvSpPr>
          <p:nvPr>
            <p:ph idx="1"/>
          </p:nvPr>
        </p:nvSpPr>
        <p:spPr>
          <a:xfrm>
            <a:off x="947136" y="1453573"/>
            <a:ext cx="10441300" cy="4767118"/>
          </a:xfrm>
        </p:spPr>
        <p:txBody>
          <a:bodyPr>
            <a:normAutofit/>
          </a:bodyPr>
          <a:lstStyle/>
          <a:p>
            <a:endParaRPr lang="en-US" sz="2200" dirty="0"/>
          </a:p>
          <a:p>
            <a:r>
              <a:rPr lang="en-US" sz="2200" dirty="0"/>
              <a:t>It is very important to accurately report the residency status in CN</a:t>
            </a:r>
          </a:p>
          <a:p>
            <a:endParaRPr lang="en-US" sz="2200" dirty="0"/>
          </a:p>
          <a:p>
            <a:r>
              <a:rPr lang="en-US" sz="2200" dirty="0"/>
              <a:t>State grants are awarded based on the information that is listed in CN</a:t>
            </a:r>
          </a:p>
          <a:p>
            <a:endParaRPr lang="en-US" sz="2200" dirty="0"/>
          </a:p>
          <a:p>
            <a:r>
              <a:rPr lang="en-US" sz="2200" dirty="0"/>
              <a:t>If a student’s residency status has changed, residency status in CN must be updated</a:t>
            </a:r>
          </a:p>
          <a:p>
            <a:endParaRPr lang="en-US" sz="2200" dirty="0"/>
          </a:p>
          <a:p>
            <a:r>
              <a:rPr lang="en-US" sz="2200" dirty="0"/>
              <a:t>State aid will be awarded based on the last residency determination in CN</a:t>
            </a:r>
          </a:p>
        </p:txBody>
      </p:sp>
    </p:spTree>
    <p:extLst>
      <p:ext uri="{BB962C8B-B14F-4D97-AF65-F5344CB8AC3E}">
        <p14:creationId xmlns:p14="http://schemas.microsoft.com/office/powerpoint/2010/main" val="146434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CN Contact Manager Events</a:t>
            </a:r>
          </a:p>
        </p:txBody>
      </p:sp>
      <p:sp>
        <p:nvSpPr>
          <p:cNvPr id="3" name="Content Placeholder 2"/>
          <p:cNvSpPr>
            <a:spLocks noGrp="1"/>
          </p:cNvSpPr>
          <p:nvPr>
            <p:ph idx="1"/>
          </p:nvPr>
        </p:nvSpPr>
        <p:spPr>
          <a:xfrm>
            <a:off x="646111" y="1199213"/>
            <a:ext cx="10899777" cy="5411449"/>
          </a:xfrm>
        </p:spPr>
        <p:txBody>
          <a:bodyPr>
            <a:normAutofit/>
          </a:bodyPr>
          <a:lstStyle/>
          <a:p>
            <a:pPr lvl="0"/>
            <a:r>
              <a:rPr lang="en-US" sz="2600" dirty="0"/>
              <a:t>Document Tracking-</a:t>
            </a:r>
          </a:p>
          <a:p>
            <a:pPr marL="0" lvl="0" indent="0">
              <a:buNone/>
            </a:pPr>
            <a:endParaRPr lang="en-US" sz="2600" dirty="0"/>
          </a:p>
          <a:p>
            <a:pPr lvl="1"/>
            <a:r>
              <a:rPr lang="en-US" sz="2400" dirty="0"/>
              <a:t>ADM- KY Residency Determination</a:t>
            </a:r>
          </a:p>
          <a:p>
            <a:pPr lvl="1"/>
            <a:endParaRPr lang="en-US" sz="2400" dirty="0"/>
          </a:p>
          <a:p>
            <a:pPr lvl="2"/>
            <a:r>
              <a:rPr lang="en-US" sz="2200" b="1" dirty="0"/>
              <a:t>Requested </a:t>
            </a:r>
            <a:r>
              <a:rPr lang="en-US" sz="2200" dirty="0"/>
              <a:t>– Requested from student or no documents received </a:t>
            </a:r>
          </a:p>
          <a:p>
            <a:pPr lvl="2"/>
            <a:r>
              <a:rPr lang="en-US" sz="2200" b="1" dirty="0"/>
              <a:t>Received Insufficient </a:t>
            </a:r>
            <a:r>
              <a:rPr lang="en-US" sz="2200" dirty="0"/>
              <a:t>– Not sufficient to determine residency</a:t>
            </a:r>
          </a:p>
          <a:p>
            <a:pPr lvl="2"/>
            <a:r>
              <a:rPr lang="en-US" sz="2200" b="1" dirty="0"/>
              <a:t>Denied </a:t>
            </a:r>
            <a:r>
              <a:rPr lang="en-US" sz="2200" dirty="0"/>
              <a:t>– Staff certified non-resident or student self certified non- resident </a:t>
            </a:r>
          </a:p>
          <a:p>
            <a:pPr lvl="2"/>
            <a:r>
              <a:rPr lang="en-US" sz="2200" b="1" dirty="0"/>
              <a:t>Approved</a:t>
            </a:r>
            <a:r>
              <a:rPr lang="en-US" sz="2200" dirty="0"/>
              <a:t> – Staff certified resident</a:t>
            </a:r>
          </a:p>
        </p:txBody>
      </p:sp>
    </p:spTree>
    <p:extLst>
      <p:ext uri="{BB962C8B-B14F-4D97-AF65-F5344CB8AC3E}">
        <p14:creationId xmlns:p14="http://schemas.microsoft.com/office/powerpoint/2010/main" val="1314320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300318"/>
            <a:ext cx="9404723" cy="1400530"/>
          </a:xfrm>
        </p:spPr>
        <p:txBody>
          <a:bodyPr/>
          <a:lstStyle/>
          <a:p>
            <a:pPr algn="ctr"/>
            <a:r>
              <a:rPr lang="en-US" dirty="0"/>
              <a:t>CN Contact Manager Events</a:t>
            </a:r>
          </a:p>
        </p:txBody>
      </p:sp>
      <p:sp>
        <p:nvSpPr>
          <p:cNvPr id="3" name="Content Placeholder 2"/>
          <p:cNvSpPr>
            <a:spLocks noGrp="1"/>
          </p:cNvSpPr>
          <p:nvPr>
            <p:ph idx="1"/>
          </p:nvPr>
        </p:nvSpPr>
        <p:spPr>
          <a:xfrm>
            <a:off x="753171" y="1508233"/>
            <a:ext cx="11064755" cy="4947985"/>
          </a:xfrm>
        </p:spPr>
        <p:txBody>
          <a:bodyPr>
            <a:normAutofit fontScale="70000" lnSpcReduction="20000"/>
          </a:bodyPr>
          <a:lstStyle/>
          <a:p>
            <a:pPr lvl="0"/>
            <a:r>
              <a:rPr lang="en-US" sz="3800" dirty="0"/>
              <a:t>CM Activities – </a:t>
            </a:r>
          </a:p>
          <a:p>
            <a:pPr lvl="1"/>
            <a:r>
              <a:rPr lang="en-US" sz="3200" dirty="0"/>
              <a:t>ADM - KY Residency Decision</a:t>
            </a:r>
          </a:p>
          <a:p>
            <a:pPr lvl="2"/>
            <a:r>
              <a:rPr lang="en-US" sz="2900" dirty="0"/>
              <a:t>Auto Triggered to a designated FP staff member, when doc status is “Approved</a:t>
            </a:r>
            <a:r>
              <a:rPr lang="en-US" sz="3200" dirty="0"/>
              <a:t>” </a:t>
            </a:r>
          </a:p>
          <a:p>
            <a:pPr lvl="1"/>
            <a:r>
              <a:rPr lang="en-US" sz="3200" dirty="0"/>
              <a:t>ADM - KY Residency </a:t>
            </a:r>
          </a:p>
          <a:p>
            <a:pPr lvl="2"/>
            <a:r>
              <a:rPr lang="en-US" sz="2900" dirty="0"/>
              <a:t>Auto Triggered student email telling them what to submit, when doc status is “Received-Insufficient</a:t>
            </a:r>
          </a:p>
          <a:p>
            <a:pPr lvl="1"/>
            <a:r>
              <a:rPr lang="en-US" sz="3200" dirty="0"/>
              <a:t>ADM - General Comments </a:t>
            </a:r>
          </a:p>
          <a:p>
            <a:pPr lvl="2"/>
            <a:r>
              <a:rPr lang="en-US" sz="2900" dirty="0"/>
              <a:t>Manually added and changed to KY Res Determination with comments for No Longer Needed, Self-certified Non-KY Resident</a:t>
            </a:r>
          </a:p>
          <a:p>
            <a:pPr lvl="1"/>
            <a:r>
              <a:rPr lang="en-US" sz="3200" dirty="0"/>
              <a:t>FP – ADM KY Residency Determination Needed</a:t>
            </a:r>
          </a:p>
          <a:p>
            <a:pPr lvl="2"/>
            <a:r>
              <a:rPr lang="en-US" sz="2900" dirty="0"/>
              <a:t>Manually assigned by the FPC to the Admissions designee, when aid is approved by the state but “ADM – KY Residency Determination” document status is not specified.  Closed by Admissions when doc status is updated.</a:t>
            </a:r>
          </a:p>
          <a:p>
            <a:endParaRPr lang="en-US" dirty="0"/>
          </a:p>
        </p:txBody>
      </p:sp>
    </p:spTree>
    <p:extLst>
      <p:ext uri="{BB962C8B-B14F-4D97-AF65-F5344CB8AC3E}">
        <p14:creationId xmlns:p14="http://schemas.microsoft.com/office/powerpoint/2010/main" val="2010924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KSR Additional Information</a:t>
            </a:r>
          </a:p>
        </p:txBody>
      </p:sp>
      <p:sp>
        <p:nvSpPr>
          <p:cNvPr id="3" name="Content Placeholder 2"/>
          <p:cNvSpPr>
            <a:spLocks noGrp="1"/>
          </p:cNvSpPr>
          <p:nvPr>
            <p:ph idx="1"/>
          </p:nvPr>
        </p:nvSpPr>
        <p:spPr>
          <a:xfrm>
            <a:off x="1127246" y="1853248"/>
            <a:ext cx="10150354" cy="4450570"/>
          </a:xfrm>
        </p:spPr>
        <p:txBody>
          <a:bodyPr>
            <a:normAutofit lnSpcReduction="10000"/>
          </a:bodyPr>
          <a:lstStyle/>
          <a:p>
            <a:r>
              <a:rPr lang="en-US" sz="2200" dirty="0"/>
              <a:t>If a student is enrolling directly from high school, and the high school transcript is provided, the student doesn’t need to provide another document from the list</a:t>
            </a:r>
          </a:p>
          <a:p>
            <a:endParaRPr lang="en-US" sz="2200" dirty="0"/>
          </a:p>
          <a:p>
            <a:r>
              <a:rPr lang="en-US" sz="2200" dirty="0"/>
              <a:t>If student provides a KY driver’s license, the license can’t be expired</a:t>
            </a:r>
          </a:p>
          <a:p>
            <a:endParaRPr lang="en-US" sz="2200" dirty="0"/>
          </a:p>
          <a:p>
            <a:r>
              <a:rPr lang="en-US" sz="2200" dirty="0"/>
              <a:t>Can not accept Military IDs</a:t>
            </a:r>
          </a:p>
          <a:p>
            <a:endParaRPr lang="en-US" sz="2200" dirty="0"/>
          </a:p>
          <a:p>
            <a:r>
              <a:rPr lang="en-US" sz="2200" dirty="0"/>
              <a:t>If a student transfers to another enrollment but doesn’t have a break in attendance, there is no need to have student complete another KSR form and determination</a:t>
            </a:r>
          </a:p>
          <a:p>
            <a:endParaRPr lang="en-US" dirty="0"/>
          </a:p>
        </p:txBody>
      </p:sp>
    </p:spTree>
    <p:extLst>
      <p:ext uri="{BB962C8B-B14F-4D97-AF65-F5344CB8AC3E}">
        <p14:creationId xmlns:p14="http://schemas.microsoft.com/office/powerpoint/2010/main" val="3564494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Kentucky State Residency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79007" y="2052638"/>
            <a:ext cx="4195762" cy="4195762"/>
          </a:xfrm>
        </p:spPr>
      </p:pic>
    </p:spTree>
    <p:extLst>
      <p:ext uri="{BB962C8B-B14F-4D97-AF65-F5344CB8AC3E}">
        <p14:creationId xmlns:p14="http://schemas.microsoft.com/office/powerpoint/2010/main" val="7673883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0692D13CDCCE6642884AA90A38E489D7" ma:contentTypeVersion="15" ma:contentTypeDescription="Create a new document." ma:contentTypeScope="" ma:versionID="c0571df8da26e79c96597b6f57dc6591">
  <xsd:schema xmlns:xsd="http://www.w3.org/2001/XMLSchema" xmlns:xs="http://www.w3.org/2001/XMLSchema" xmlns:p="http://schemas.microsoft.com/office/2006/metadata/properties" xmlns:ns2="01bab7ef-2616-45ac-9d76-006fe3e2c015" xmlns:ns3="ba731837-116c-421e-98ff-512322c04acd" targetNamespace="http://schemas.microsoft.com/office/2006/metadata/properties" ma:root="true" ma:fieldsID="3f2d271434461ea2d2c18f6e0b64d809" ns2:_="" ns3:_="">
    <xsd:import namespace="01bab7ef-2616-45ac-9d76-006fe3e2c015"/>
    <xsd:import namespace="ba731837-116c-421e-98ff-512322c04acd"/>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bab7ef-2616-45ac-9d76-006fe3e2c015" elementFormDefault="qualified">
    <xsd:import namespace="http://schemas.microsoft.com/office/2006/documentManagement/types"/>
    <xsd:import namespace="http://schemas.microsoft.com/office/infopath/2007/PartnerControls"/>
    <xsd:element name="_dlc_DocId" ma:index="4" nillable="true" ma:displayName="Document ID Value" ma:description="The value of the document ID assigned to this item." ma:indexed="true" ma:internalName="_dlc_DocId" ma:readOnly="true">
      <xsd:simpleType>
        <xsd:restriction base="dms:Text"/>
      </xsd:simpleType>
    </xsd:element>
    <xsd:element name="_dlc_DocIdUrl" ma:index="5"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6"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ba731837-116c-421e-98ff-512322c04ac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7"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01bab7ef-2616-45ac-9d76-006fe3e2c015">2VDZ47RYQVE2-1540515866-5748</_dlc_DocId>
    <_dlc_DocIdUrl xmlns="01bab7ef-2616-45ac-9d76-006fe3e2c015">
      <Url>https://sullivanedu.sharepoint.com/sus/financial-planning/_layouts/15/DocIdRedir.aspx?ID=2VDZ47RYQVE2-1540515866-5748</Url>
      <Description>2VDZ47RYQVE2-1540515866-5748</Description>
    </_dlc_DocIdUrl>
  </documentManagement>
</p:properties>
</file>

<file path=customXml/itemProps1.xml><?xml version="1.0" encoding="utf-8"?>
<ds:datastoreItem xmlns:ds="http://schemas.openxmlformats.org/officeDocument/2006/customXml" ds:itemID="{37E9CB99-F8B3-4D14-9061-5E47204FCC57}">
  <ds:schemaRefs>
    <ds:schemaRef ds:uri="http://schemas.microsoft.com/sharepoint/v3/contenttype/forms"/>
  </ds:schemaRefs>
</ds:datastoreItem>
</file>

<file path=customXml/itemProps2.xml><?xml version="1.0" encoding="utf-8"?>
<ds:datastoreItem xmlns:ds="http://schemas.openxmlformats.org/officeDocument/2006/customXml" ds:itemID="{4FE9857A-DF49-4F28-8953-4E18BDF13BBC}">
  <ds:schemaRefs>
    <ds:schemaRef ds:uri="http://schemas.microsoft.com/sharepoint/events"/>
  </ds:schemaRefs>
</ds:datastoreItem>
</file>

<file path=customXml/itemProps3.xml><?xml version="1.0" encoding="utf-8"?>
<ds:datastoreItem xmlns:ds="http://schemas.openxmlformats.org/officeDocument/2006/customXml" ds:itemID="{A125434B-DFFA-4BF2-897E-6B21A68BF2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bab7ef-2616-45ac-9d76-006fe3e2c015"/>
    <ds:schemaRef ds:uri="ba731837-116c-421e-98ff-512322c04a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EF38CA84-94D6-4A30-B017-28B00B9BF2E2}">
  <ds:schemaRefs>
    <ds:schemaRef ds:uri="http://purl.org/dc/elements/1.1/"/>
    <ds:schemaRef ds:uri="http://purl.org/dc/dcmitype/"/>
    <ds:schemaRef ds:uri="http://www.w3.org/XML/1998/namespace"/>
    <ds:schemaRef ds:uri="ba731837-116c-421e-98ff-512322c04acd"/>
    <ds:schemaRef ds:uri="http://schemas.microsoft.com/office/2006/metadata/properties"/>
    <ds:schemaRef ds:uri="http://purl.org/dc/terms/"/>
    <ds:schemaRef ds:uri="http://schemas.microsoft.com/office/infopath/2007/PartnerControls"/>
    <ds:schemaRef ds:uri="http://schemas.microsoft.com/office/2006/documentManagement/types"/>
    <ds:schemaRef ds:uri="http://schemas.openxmlformats.org/package/2006/metadata/core-properties"/>
    <ds:schemaRef ds:uri="01bab7ef-2616-45ac-9d76-006fe3e2c015"/>
  </ds:schemaRefs>
</ds:datastoreItem>
</file>

<file path=docProps/app.xml><?xml version="1.0" encoding="utf-8"?>
<Properties xmlns="http://schemas.openxmlformats.org/officeDocument/2006/extended-properties" xmlns:vt="http://schemas.openxmlformats.org/officeDocument/2006/docPropsVTypes">
  <Template>Ion</Template>
  <TotalTime>399</TotalTime>
  <Words>1350</Words>
  <Application>Microsoft Office PowerPoint</Application>
  <PresentationFormat>Widescreen</PresentationFormat>
  <Paragraphs>123</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Century Gothic</vt:lpstr>
      <vt:lpstr>Wingdings 3</vt:lpstr>
      <vt:lpstr>Ion</vt:lpstr>
      <vt:lpstr>Kentucky State Residency</vt:lpstr>
      <vt:lpstr>KSR Training</vt:lpstr>
      <vt:lpstr>Verification Process</vt:lpstr>
      <vt:lpstr>Primary List</vt:lpstr>
      <vt:lpstr>Primary List, Continued</vt:lpstr>
      <vt:lpstr>Secondary List</vt:lpstr>
      <vt:lpstr>Evaluation of Form</vt:lpstr>
      <vt:lpstr>Evaluation of Form</vt:lpstr>
      <vt:lpstr>Evaluation of Form</vt:lpstr>
      <vt:lpstr>Evaluation of Form</vt:lpstr>
      <vt:lpstr>Appeals Process</vt:lpstr>
      <vt:lpstr>Documentation in CN</vt:lpstr>
      <vt:lpstr>CN Contact Manager Events</vt:lpstr>
      <vt:lpstr>CN Contact Manager Events</vt:lpstr>
      <vt:lpstr>KSR Additional Information</vt:lpstr>
      <vt:lpstr>Kentucky State Residency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Kentucky State Residency</dc:title>
  <dc:creator>Smith, Amy</dc:creator>
  <cp:lastModifiedBy>Hornback, Kelley</cp:lastModifiedBy>
  <cp:revision>18</cp:revision>
  <cp:lastPrinted>2024-12-11T15:11:54Z</cp:lastPrinted>
  <dcterms:created xsi:type="dcterms:W3CDTF">2016-03-07T17:15:58Z</dcterms:created>
  <dcterms:modified xsi:type="dcterms:W3CDTF">2024-12-12T20:13:12Z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0x0101000692D13CDCCE6642884AA90A38E489D7</vt:lpwstr>
  </property>
  <property fmtid="{D5CDD505-2E9C-101B-9397-08002B2CF9AE}" pid="3" name="_dlc_DocIdItemGuid">
    <vt:lpwstr>f23c9bfc-98de-464b-af6a-c36f56103276</vt:lpwstr>
  </property>
  <property fmtid="{D5CDD505-2E9C-101B-9397-08002B2CF9AE}" pid="4" name="MSIP_Label_7280ffd9-7a72-4d8a-ab7a-880e277a1f6f_Enabled">
    <vt:lpwstr>true</vt:lpwstr>
  </property>
  <property fmtid="{D5CDD505-2E9C-101B-9397-08002B2CF9AE}" pid="5" name="MSIP_Label_7280ffd9-7a72-4d8a-ab7a-880e277a1f6f_SetDate">
    <vt:lpwstr>2021-07-28T19:17:57Z</vt:lpwstr>
  </property>
  <property fmtid="{D5CDD505-2E9C-101B-9397-08002B2CF9AE}" pid="6" name="MSIP_Label_7280ffd9-7a72-4d8a-ab7a-880e277a1f6f_Method">
    <vt:lpwstr>Privileged</vt:lpwstr>
  </property>
  <property fmtid="{D5CDD505-2E9C-101B-9397-08002B2CF9AE}" pid="7" name="MSIP_Label_7280ffd9-7a72-4d8a-ab7a-880e277a1f6f_Name">
    <vt:lpwstr>Not Confidential</vt:lpwstr>
  </property>
  <property fmtid="{D5CDD505-2E9C-101B-9397-08002B2CF9AE}" pid="8" name="MSIP_Label_7280ffd9-7a72-4d8a-ab7a-880e277a1f6f_SiteId">
    <vt:lpwstr>fce71ff4-a610-4bcf-8eef-ca1649c702c6</vt:lpwstr>
  </property>
  <property fmtid="{D5CDD505-2E9C-101B-9397-08002B2CF9AE}" pid="9" name="MSIP_Label_7280ffd9-7a72-4d8a-ab7a-880e277a1f6f_ActionId">
    <vt:lpwstr>48e1ab9e-b22b-41af-b9da-79357e827223</vt:lpwstr>
  </property>
  <property fmtid="{D5CDD505-2E9C-101B-9397-08002B2CF9AE}" pid="10" name="MSIP_Label_7280ffd9-7a72-4d8a-ab7a-880e277a1f6f_ContentBits">
    <vt:lpwstr>0</vt:lpwstr>
  </property>
</Properties>
</file>